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2400">
                <a:solidFill>
                  <a:srgbClr val="595959"/>
                </a:solidFill>
              </a:rPr>
              <a:t>Activitat</a:t>
            </a:r>
            <a:r>
              <a:rPr b="1" lang="ca-ES" sz="2400">
                <a:solidFill>
                  <a:srgbClr val="595959"/>
                </a:solidFill>
              </a:rPr>
              <a:t> </a:t>
            </a:r>
            <a:r>
              <a:rPr b="1" lang="ca-ES" sz="2400">
                <a:solidFill>
                  <a:schemeClr val="dk1"/>
                </a:solidFill>
              </a:rPr>
              <a:t>03</a:t>
            </a:r>
            <a:r>
              <a:rPr lang="ca-ES">
                <a:solidFill>
                  <a:schemeClr val="dk1"/>
                </a:solidFill>
              </a:rPr>
              <a:t>	 	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a-ES" sz="1000">
                <a:solidFill>
                  <a:schemeClr val="dk1"/>
                </a:solidFill>
              </a:rPr>
              <a:t>RA2</a:t>
            </a:r>
            <a:r>
              <a:rPr lang="ca-ES" sz="1000">
                <a:solidFill>
                  <a:schemeClr val="dk1"/>
                </a:solidFill>
              </a:rPr>
              <a:t>. Duu a terme tasques bàsiques de configuració de sistemes operatius propietaris, interpretant requisits i descrivint els procediments seguits amb l’ajuda de documentació tècnica.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Executa arrencades i parades del sistema.</a:t>
            </a:r>
            <a:r>
              <a:rPr lang="ca-ES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Utilitza el sistema operatiu en </a:t>
            </a:r>
            <a:r>
              <a:rPr b="1" lang="ca-ES" sz="1000">
                <a:solidFill>
                  <a:schemeClr val="dk1"/>
                </a:solidFill>
              </a:rPr>
              <a:t>mode ordre</a:t>
            </a:r>
            <a:r>
              <a:rPr lang="ca-ES" sz="1000">
                <a:solidFill>
                  <a:schemeClr val="dk1"/>
                </a:solidFill>
              </a:rPr>
              <a:t> i mode gràfic.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Diferencia les interfícies d’usuari segons les seves propietats i aplica  preferències en la configuració de l’entorn personal. </a:t>
            </a:r>
            <a:r>
              <a:rPr b="1" lang="ca-ES" sz="1000">
                <a:solidFill>
                  <a:schemeClr val="dk1"/>
                </a:solidFill>
              </a:rPr>
              <a:t>Opera adequadament amb arxius i directoris</a:t>
            </a:r>
            <a:r>
              <a:rPr lang="ca-ES" sz="1000">
                <a:solidFill>
                  <a:schemeClr val="dk1"/>
                </a:solidFill>
              </a:rPr>
              <a:t>, i gestiona els permisos i 	atributs d’arxius i directoris.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ca-ES" sz="1000">
                <a:solidFill>
                  <a:schemeClr val="dk1"/>
                </a:solidFill>
              </a:rPr>
              <a:t>Comprova</a:t>
            </a:r>
            <a:r>
              <a:rPr lang="ca-ES" sz="1000">
                <a:solidFill>
                  <a:schemeClr val="dk1"/>
                </a:solidFill>
              </a:rPr>
              <a:t> el funcionament correcte de les configuracions dutes a terme.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-ES" sz="1000">
                <a:solidFill>
                  <a:schemeClr val="dk1"/>
                </a:solidFill>
              </a:rPr>
              <a:t>Continguts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Utilització del sistema operatiu: </a:t>
            </a:r>
            <a:r>
              <a:rPr b="1" lang="ca-ES" sz="1000">
                <a:solidFill>
                  <a:schemeClr val="dk1"/>
                </a:solidFill>
              </a:rPr>
              <a:t>mode ordre,</a:t>
            </a:r>
            <a:r>
              <a:rPr lang="ca-ES" sz="1000">
                <a:solidFill>
                  <a:schemeClr val="dk1"/>
                </a:solidFill>
              </a:rPr>
              <a:t> mode gràfic.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ca-ES" sz="1000">
                <a:solidFill>
                  <a:schemeClr val="dk1"/>
                </a:solidFill>
              </a:rPr>
              <a:t>Operació amb arxius: nom i extensió, comodins</a:t>
            </a:r>
            <a:r>
              <a:rPr lang="ca-ES" sz="1000">
                <a:solidFill>
                  <a:schemeClr val="dk1"/>
                </a:solidFill>
              </a:rPr>
              <a:t>. Operacions més comunes. Permisos i atributs d’arxius i directoris. </a:t>
            </a:r>
            <a:r>
              <a:rPr b="1" lang="ca-ES" sz="1000">
                <a:solidFill>
                  <a:schemeClr val="dk1"/>
                </a:solidFill>
              </a:rPr>
              <a:t>Estructura de l’arbre de directoris. Rutes</a:t>
            </a:r>
            <a:r>
              <a:rPr lang="ca-ES" sz="1000">
                <a:solidFill>
                  <a:schemeClr val="dk1"/>
                </a:solidFill>
              </a:rPr>
              <a:t>. Eines gràfiques.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Funcionament correcte de les configuracions realitzades.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ca-ES" sz="1000">
                <a:solidFill>
                  <a:schemeClr val="dk1"/>
                </a:solidFill>
              </a:rPr>
              <a:t>Documentació del procés de configuració. Interpretació de documentació tècnica.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d4fa535344_0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1d4fa535344_0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5e156e7d3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255e156e7d3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5e156e7d3_0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255e156e7d3_0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5e156e7d3_0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255e156e7d3_0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5e156e7d3_0_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55e156e7d3_0_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5e156e7d3_0_6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55e156e7d3_0_6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5e156e7d3_0_8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55e156e7d3_0_8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5e156e7d3_0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55e156e7d3_0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5e156e7d3_0_10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55e156e7d3_0_10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5e156e7d3_0_24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255e156e7d3_0_24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5e156e7d3_0_1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55e156e7d3_0_1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5cd1f7620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55cd1f7620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5e156e7d3_0_1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55e156e7d3_0_1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5e156e7d3_0_1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55e156e7d3_0_1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5e156e7d3_0_15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5e156e7d3_0_15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5e156e7d3_0_1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255e156e7d3_0_1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5e156e7d3_0_1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55e156e7d3_0_1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5e156e7d3_0_18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55e156e7d3_0_18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55cd1f7620_0_1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55cd1f7620_0_1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5cd1f7620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255cd1f7620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5cd1f7620_0_4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55cd1f7620_0_4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55cd1f7620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55cd1f7620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5cd1f7620_0_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255cd1f7620_0_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55cd1f7620_0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55cd1f7620_0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55cd1f7620_0_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55cd1f7620_0_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55cd1f7620_0_1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255cd1f7620_0_1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5cd1f7620_0_1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255cd1f7620_0_1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5cd1f7620_0_1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255cd1f7620_0_1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55cd1f7620_0_1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255cd1f7620_0_1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55cd1f7620_0_16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255cd1f7620_0_16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55cd1f7620_0_15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255cd1f7620_0_15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5cd1f7620_0_1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255cd1f7620_0_1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55cd1f7620_0_1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255cd1f7620_0_1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55cd1f7620_0_2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255cd1f7620_0_2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55cd1f7620_0_2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255cd1f7620_0_2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55cd1f7620_0_2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255cd1f7620_0_2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55cd1f7620_0_2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255cd1f7620_0_2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5cd1f7620_0_2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255cd1f7620_0_2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55cd1f7620_0_26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255cd1f7620_0_26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55cd1f7620_0_27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255cd1f7620_0_27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55cd1f7620_0_28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255cd1f7620_0_28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55cd1f7620_0_29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255cd1f7620_0_29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55cd1f7620_0_3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255cd1f7620_0_3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55cd1f7620_0_3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255cd1f7620_0_3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55cd1f7620_0_33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255cd1f7620_0_33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7b7d83472c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27b7d83472c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55cd1f7620_0_3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255cd1f7620_0_3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55cd1f7620_0_3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255cd1f7620_0_3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55cd1f7620_0_38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255cd1f7620_0_38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55cd1f7620_0_40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255cd1f7620_0_40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55cd1f7620_0_4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255cd1f7620_0_4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55cd1f7620_0_4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255cd1f7620_0_4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55cd1f7620_0_4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g255cd1f7620_0_4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55cd1f7620_0_4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255cd1f7620_0_4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55cd1f7620_0_4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255cd1f7620_0_4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55cd1f7620_0_4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255cd1f7620_0_4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55cd1f7620_0_49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255cd1f7620_0_49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55cd1f7620_0_50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255cd1f7620_0_50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55cd1f7620_0_5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255cd1f7620_0_5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55cd1f7620_0_5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255cd1f7620_0_5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55cd1f7620_0_37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255cd1f7620_0_37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3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3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2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4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2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8520" y="1825560"/>
            <a:ext cx="5453640" cy="435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8520" y="1825560"/>
            <a:ext cx="5453640" cy="435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hyperlink" Target="https://www.bsc.es/ca" TargetMode="External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61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4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6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9" Type="http://schemas.openxmlformats.org/officeDocument/2006/relationships/image" Target="../media/image49.png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5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6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.png"/><Relationship Id="rId4" Type="http://schemas.openxmlformats.org/officeDocument/2006/relationships/image" Target="../media/image1.gif"/><Relationship Id="rId5" Type="http://schemas.openxmlformats.org/officeDocument/2006/relationships/hyperlink" Target="https://creativecommons.org/licenses/by/2.0/deed.ca" TargetMode="External"/><Relationship Id="rId6" Type="http://schemas.openxmlformats.org/officeDocument/2006/relationships/hyperlink" Target="https://creativecommons.org/licenses/by/2.0/deed.ca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6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120"/>
            <a:ext cx="12191040" cy="35467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0" y="4722840"/>
            <a:ext cx="12191041" cy="2196000"/>
          </a:xfrm>
          <a:prstGeom prst="rect">
            <a:avLst/>
          </a:prstGeom>
          <a:solidFill>
            <a:srgbClr val="A5A5A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</a:t>
            </a:r>
            <a:r>
              <a:rPr lang="ca-E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· Característiques dels sistemes operatius:</a:t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ca-E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ca-E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Sistemes Informàtics · Hardware i Software</a:t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600" y="3633120"/>
            <a:ext cx="6009120" cy="9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3467150"/>
            <a:ext cx="6213600" cy="12546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91875" y="3633125"/>
            <a:ext cx="6439800" cy="99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  · Sistemes operatius monolloc</a:t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UF1 · Introducció als sistemes operatius</a:t>
            </a:r>
            <a:endParaRPr b="1"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9133175" y="4743400"/>
            <a:ext cx="2420400" cy="2154900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8040000" dist="11430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2800">
                <a:solidFill>
                  <a:srgbClr val="FFFFFF"/>
                </a:solidFill>
              </a:rPr>
              <a:t>A1</a:t>
            </a:r>
            <a:endParaRPr b="1" sz="1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871550" y="1832750"/>
            <a:ext cx="4481100" cy="4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500">
                <a:solidFill>
                  <a:schemeClr val="dk1"/>
                </a:solidFill>
              </a:rPr>
              <a:t>En aquesta activitat treballarem els </a:t>
            </a:r>
            <a:r>
              <a:rPr b="1" lang="ca-ES" sz="1500">
                <a:solidFill>
                  <a:schemeClr val="dk1"/>
                </a:solidFill>
              </a:rPr>
              <a:t>conceptes bàsics de la computació</a:t>
            </a:r>
            <a:r>
              <a:rPr lang="ca-ES" sz="1500">
                <a:solidFill>
                  <a:schemeClr val="dk1"/>
                </a:solidFill>
              </a:rPr>
              <a:t>, amb l’</a:t>
            </a:r>
            <a:r>
              <a:rPr b="1" lang="ca-ES" sz="1500">
                <a:solidFill>
                  <a:srgbClr val="990000"/>
                </a:solidFill>
              </a:rPr>
              <a:t>objectiu</a:t>
            </a:r>
            <a:r>
              <a:rPr lang="ca-ES" sz="1500">
                <a:solidFill>
                  <a:schemeClr val="dk1"/>
                </a:solidFill>
              </a:rPr>
              <a:t> de conèixer els diferents </a:t>
            </a:r>
            <a:r>
              <a:rPr b="1" lang="ca-ES" sz="1500">
                <a:solidFill>
                  <a:schemeClr val="dk1"/>
                </a:solidFill>
              </a:rPr>
              <a:t>components</a:t>
            </a:r>
            <a:r>
              <a:rPr lang="ca-ES" sz="1500">
                <a:solidFill>
                  <a:schemeClr val="dk1"/>
                </a:solidFill>
              </a:rPr>
              <a:t> que formen part del sistema informàtic, i la seva funció dins el conjunt.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500">
                <a:solidFill>
                  <a:schemeClr val="dk1"/>
                </a:solidFill>
              </a:rPr>
              <a:t>Podem estructurar l’activitat en els següents apartats: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a-ES" sz="1500">
                <a:solidFill>
                  <a:schemeClr val="dk1"/>
                </a:solidFill>
              </a:rPr>
              <a:t>Definició de sistema informàtic.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a-ES" sz="1500">
                <a:solidFill>
                  <a:schemeClr val="dk1"/>
                </a:solidFill>
              </a:rPr>
              <a:t>Funció d’un sistema informàtic.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a-ES" sz="1500">
                <a:solidFill>
                  <a:schemeClr val="dk1"/>
                </a:solidFill>
              </a:rPr>
              <a:t>Tipus de sistemes informàtics.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a-ES" sz="1500">
                <a:solidFill>
                  <a:schemeClr val="dk1"/>
                </a:solidFill>
              </a:rPr>
              <a:t>Components del sistema informàtic: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ca-ES" sz="1500">
                <a:solidFill>
                  <a:schemeClr val="dk1"/>
                </a:solidFill>
              </a:rPr>
              <a:t>Components de maquinari.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ca-ES" sz="1500">
                <a:solidFill>
                  <a:schemeClr val="dk1"/>
                </a:solidFill>
              </a:rPr>
              <a:t>Components de programari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4" name="Google Shape;74;p1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871550" y="1287475"/>
            <a:ext cx="30000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Introducció</a:t>
            </a:r>
            <a:r>
              <a:rPr lang="ca-ES" sz="2400">
                <a:solidFill>
                  <a:schemeClr val="dk1"/>
                </a:solidFill>
              </a:rPr>
              <a:t>	 	 	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04600" y="1385888"/>
            <a:ext cx="6172200" cy="4086225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8400000" dist="1143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86" name="Google Shape;86;p1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1625" y="1926775"/>
            <a:ext cx="4560501" cy="40015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98" name="Google Shape;98;p1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711585"/>
            <a:ext cx="6266900" cy="43115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10" name="Google Shape;110;p1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266900" cy="43115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22" name="Google Shape;122;p1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266900" cy="431157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34" name="Google Shape;134;p2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306667" cy="41885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46" name="Google Shape;146;p21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Definició de sistema Informàtic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306667" cy="41885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58" name="Google Shape;158;p22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Funció</a:t>
            </a:r>
            <a:r>
              <a:rPr lang="ca-ES" sz="2400">
                <a:solidFill>
                  <a:srgbClr val="595959"/>
                </a:solidFill>
              </a:rPr>
              <a:t> d’un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306667" cy="41885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70" name="Google Shape;170;p2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Funció d’un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999" y="1829875"/>
            <a:ext cx="6306667" cy="41885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273960" y="5869080"/>
            <a:ext cx="11643900" cy="758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5924520"/>
            <a:ext cx="4211280" cy="6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/>
          <p:nvPr/>
        </p:nvSpPr>
        <p:spPr>
          <a:xfrm>
            <a:off x="2335800" y="913580"/>
            <a:ext cx="7520400" cy="8229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800">
                <a:latin typeface="Calibri"/>
                <a:ea typeface="Calibri"/>
                <a:cs typeface="Calibri"/>
                <a:sym typeface="Calibri"/>
              </a:rPr>
              <a:t>Preguntes?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600" y="1819893"/>
            <a:ext cx="4395989" cy="3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192" name="Google Shape;192;p2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47688" y="1649769"/>
            <a:ext cx="7896601" cy="44412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04" name="Google Shape;204;p2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16" name="Google Shape;216;p2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28" name="Google Shape;228;p2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40" name="Google Shape;240;p2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3" name="Google Shape;243;p29"/>
          <p:cNvSpPr txBox="1"/>
          <p:nvPr/>
        </p:nvSpPr>
        <p:spPr>
          <a:xfrm>
            <a:off x="4596000" y="6127825"/>
            <a:ext cx="29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chemeClr val="hlink"/>
                </a:solidFill>
                <a:hlinkClick r:id="rId9"/>
              </a:rPr>
              <a:t>Marenostrum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53" name="Google Shape;253;p3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1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65" name="Google Shape;265;p31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Tipus de sistemes informàtics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3917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273960" y="5869080"/>
            <a:ext cx="11643900" cy="758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5924520"/>
            <a:ext cx="4211280" cy="6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/>
          <p:nvPr/>
        </p:nvSpPr>
        <p:spPr>
          <a:xfrm>
            <a:off x="2335800" y="913580"/>
            <a:ext cx="7520400" cy="8229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800">
                <a:latin typeface="Calibri"/>
                <a:ea typeface="Calibri"/>
                <a:cs typeface="Calibri"/>
                <a:sym typeface="Calibri"/>
              </a:rPr>
              <a:t>Preguntes?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600" y="1819893"/>
            <a:ext cx="4395989" cy="3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87" name="Google Shape;287;p3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3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</a:t>
            </a:r>
            <a:r>
              <a:rPr lang="ca-ES" sz="2400">
                <a:solidFill>
                  <a:srgbClr val="595959"/>
                </a:solidFill>
              </a:rPr>
              <a:t>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89" name="Google Shape;289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8486" y="1766650"/>
            <a:ext cx="8415000" cy="4207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34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299" name="Google Shape;299;p34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01" name="Google Shape;301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4821" y="1704975"/>
            <a:ext cx="8610600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3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11" name="Google Shape;311;p3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5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2307" y="1704975"/>
            <a:ext cx="8610600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3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23" name="Google Shape;323;p3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25" name="Google Shape;325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35" name="Google Shape;335;p3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7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37" name="Google Shape;337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3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47" name="Google Shape;347;p3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8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49" name="Google Shape;349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p3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58" name="Google Shape;358;p3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59" name="Google Shape;359;p3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9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61" name="Google Shape;361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4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70" name="Google Shape;370;p4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71" name="Google Shape;371;p4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0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73" name="Google Shape;373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41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82" name="Google Shape;382;p41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83" name="Google Shape;383;p41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85" name="Google Shape;385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394" name="Google Shape;394;p42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95" name="Google Shape;395;p42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2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97" name="Google Shape;397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4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06" name="Google Shape;406;p4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07" name="Google Shape;407;p4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3"/>
          <p:cNvSpPr txBox="1"/>
          <p:nvPr/>
        </p:nvSpPr>
        <p:spPr>
          <a:xfrm>
            <a:off x="871550" y="1058875"/>
            <a:ext cx="54651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09" name="Google Shape;409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6400" y="1689175"/>
            <a:ext cx="8620125" cy="4362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4"/>
          <p:cNvSpPr/>
          <p:nvPr/>
        </p:nvSpPr>
        <p:spPr>
          <a:xfrm>
            <a:off x="273960" y="5869080"/>
            <a:ext cx="11643900" cy="758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" name="Google Shape;41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5924520"/>
            <a:ext cx="4211280" cy="6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4"/>
          <p:cNvSpPr/>
          <p:nvPr/>
        </p:nvSpPr>
        <p:spPr>
          <a:xfrm>
            <a:off x="2335800" y="913580"/>
            <a:ext cx="7520400" cy="8229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800">
                <a:latin typeface="Calibri"/>
                <a:ea typeface="Calibri"/>
                <a:cs typeface="Calibri"/>
                <a:sym typeface="Calibri"/>
              </a:rPr>
              <a:t>Preguntes?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600" y="1819893"/>
            <a:ext cx="4395989" cy="3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4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28" name="Google Shape;428;p4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29" name="Google Shape;429;p4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5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31" name="Google Shape;431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40" name="Google Shape;440;p4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41" name="Google Shape;441;p4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6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43" name="Google Shape;44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4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52" name="Google Shape;452;p4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53" name="Google Shape;453;p4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7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55" name="Google Shape;455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4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65" name="Google Shape;465;p4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8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67" name="Google Shape;467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76" name="Google Shape;476;p4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77" name="Google Shape;477;p4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9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79" name="Google Shape;479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5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6" name="Google Shape;486;p5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488" name="Google Shape;488;p5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489" name="Google Shape;489;p5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0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491" name="Google Shape;491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89175"/>
            <a:ext cx="6847931" cy="45578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p51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00" name="Google Shape;500;p51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01" name="Google Shape;501;p51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1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03" name="Google Shape;503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599" y="1689175"/>
            <a:ext cx="7156936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52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5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12" name="Google Shape;512;p52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13" name="Google Shape;513;p52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2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15" name="Google Shape;515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599" y="1689175"/>
            <a:ext cx="7156936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5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24" name="Google Shape;524;p5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25" name="Google Shape;525;p5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3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27" name="Google Shape;527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599" y="1689175"/>
            <a:ext cx="7156936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54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36" name="Google Shape;536;p54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37" name="Google Shape;537;p54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4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39" name="Google Shape;539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599" y="1689175"/>
            <a:ext cx="7156936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5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48" name="Google Shape;548;p5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49" name="Google Shape;549;p5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5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51" name="Google Shape;551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8799" y="1612975"/>
            <a:ext cx="6975287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5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60" name="Google Shape;560;p5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61" name="Google Shape;561;p5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6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63" name="Google Shape;563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8799" y="1612975"/>
            <a:ext cx="6975287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5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72" name="Google Shape;572;p5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73" name="Google Shape;573;p5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57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75" name="Google Shape;575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8799" y="1612975"/>
            <a:ext cx="6975287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5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84" name="Google Shape;584;p5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85" name="Google Shape;585;p5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8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87" name="Google Shape;587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88799" y="1612975"/>
            <a:ext cx="7000738" cy="4505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5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5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596" name="Google Shape;596;p5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597" name="Google Shape;597;p5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9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Maquinari</a:t>
            </a:r>
            <a:endParaRPr sz="2400"/>
          </a:p>
        </p:txBody>
      </p:sp>
      <p:pic>
        <p:nvPicPr>
          <p:cNvPr id="599" name="Google Shape;599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6" name="Google Shape;606;p6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08" name="Google Shape;608;p6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09" name="Google Shape;609;p6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0"/>
          <p:cNvPicPr preferRelativeResize="0"/>
          <p:nvPr/>
        </p:nvPicPr>
        <p:blipFill rotWithShape="1">
          <a:blip r:embed="rId8">
            <a:alphaModFix/>
          </a:blip>
          <a:srcRect b="11995" l="9557" r="10595" t="3942"/>
          <a:stretch/>
        </p:blipFill>
        <p:spPr>
          <a:xfrm>
            <a:off x="207732" y="1607612"/>
            <a:ext cx="6395549" cy="378730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0"/>
          <p:cNvSpPr txBox="1"/>
          <p:nvPr/>
        </p:nvSpPr>
        <p:spPr>
          <a:xfrm>
            <a:off x="871550" y="1058875"/>
            <a:ext cx="65079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SoC</a:t>
            </a:r>
            <a:endParaRPr sz="2400"/>
          </a:p>
        </p:txBody>
      </p:sp>
      <p:pic>
        <p:nvPicPr>
          <p:cNvPr id="612" name="Google Shape;612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95800" y="2370939"/>
            <a:ext cx="6577749" cy="3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1"/>
          <p:cNvSpPr/>
          <p:nvPr/>
        </p:nvSpPr>
        <p:spPr>
          <a:xfrm>
            <a:off x="273960" y="5869080"/>
            <a:ext cx="11643900" cy="758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5924520"/>
            <a:ext cx="4211280" cy="6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1"/>
          <p:cNvSpPr/>
          <p:nvPr/>
        </p:nvSpPr>
        <p:spPr>
          <a:xfrm>
            <a:off x="2335800" y="913580"/>
            <a:ext cx="7520400" cy="8229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800">
                <a:latin typeface="Calibri"/>
                <a:ea typeface="Calibri"/>
                <a:cs typeface="Calibri"/>
                <a:sym typeface="Calibri"/>
              </a:rPr>
              <a:t>Preguntes?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600" y="1819893"/>
            <a:ext cx="4395989" cy="3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6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6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9" name="Google Shape;629;p62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31" name="Google Shape;631;p62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32" name="Google Shape;632;p62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2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34" name="Google Shape;634;p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1" name="Google Shape;641;p6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43" name="Google Shape;643;p6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44" name="Google Shape;644;p6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63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46" name="Google Shape;646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3" name="Google Shape;653;p64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55" name="Google Shape;655;p64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56" name="Google Shape;656;p64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4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58" name="Google Shape;658;p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5" name="Google Shape;665;p65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67" name="Google Shape;667;p65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68" name="Google Shape;668;p65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5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70" name="Google Shape;670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71" name="Google Shape;671;p65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6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8" name="Google Shape;678;p66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6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80" name="Google Shape;680;p66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81" name="Google Shape;681;p66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66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83" name="Google Shape;6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84" name="Google Shape;684;p66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67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1" name="Google Shape;691;p67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7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693" name="Google Shape;693;p67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694" name="Google Shape;694;p67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7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696" name="Google Shape;696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97" name="Google Shape;697;p67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68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4" name="Google Shape;704;p68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8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06" name="Google Shape;706;p68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07" name="Google Shape;707;p68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8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09" name="Google Shape;709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4999" y="1612975"/>
            <a:ext cx="6840433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10" name="Google Shape;710;p68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69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69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9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19" name="Google Shape;719;p69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20" name="Google Shape;720;p69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69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22" name="Google Shape;722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7000" y="1612975"/>
            <a:ext cx="6642840" cy="442614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23" name="Google Shape;723;p69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70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70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0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32" name="Google Shape;732;p70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33" name="Google Shape;733;p70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70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35" name="Google Shape;735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7000" y="1612975"/>
            <a:ext cx="6642840" cy="442614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36" name="Google Shape;736;p70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1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p71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71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45" name="Google Shape;745;p71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46" name="Google Shape;746;p71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71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48" name="Google Shape;748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7000" y="1612975"/>
            <a:ext cx="6642840" cy="442614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49" name="Google Shape;749;p71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2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6" name="Google Shape;756;p72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2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58" name="Google Shape;758;p72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59" name="Google Shape;759;p72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72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61" name="Google Shape;761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67000" y="1612975"/>
            <a:ext cx="6642840" cy="442614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62" name="Google Shape;762;p72"/>
          <p:cNvPicPr preferRelativeResize="0"/>
          <p:nvPr/>
        </p:nvPicPr>
        <p:blipFill rotWithShape="1">
          <a:blip r:embed="rId9">
            <a:alphaModFix/>
          </a:blip>
          <a:srcRect b="5820" l="10878" r="9427" t="0"/>
          <a:stretch/>
        </p:blipFill>
        <p:spPr>
          <a:xfrm>
            <a:off x="8739675" y="677875"/>
            <a:ext cx="3237125" cy="25490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73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3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3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71" name="Google Shape;771;p73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72" name="Google Shape;772;p73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3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74" name="Google Shape;774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7399" y="1689175"/>
            <a:ext cx="6559122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0120" y="31320"/>
            <a:ext cx="4210201" cy="6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4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1" name="Google Shape;781;p74"/>
          <p:cNvPicPr preferRelativeResize="0"/>
          <p:nvPr/>
        </p:nvPicPr>
        <p:blipFill rotWithShape="1">
          <a:blip r:embed="rId4">
            <a:alphaModFix amt="29000"/>
          </a:blip>
          <a:srcRect b="0" l="0" r="0" t="0"/>
          <a:stretch/>
        </p:blipFill>
        <p:spPr>
          <a:xfrm>
            <a:off x="207720" y="6343920"/>
            <a:ext cx="2585879" cy="34596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4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783" name="Google Shape;783;p74"/>
          <p:cNvSpPr txBox="1"/>
          <p:nvPr/>
        </p:nvSpPr>
        <p:spPr>
          <a:xfrm>
            <a:off x="10203500" y="6423125"/>
            <a:ext cx="177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 Mestre 2022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784" name="Google Shape;784;p74">
            <a:hlinkClick r:id="rId6"/>
          </p:cNvPr>
          <p:cNvPicPr preferRelativeResize="0"/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9365300" y="6475577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4"/>
          <p:cNvSpPr txBox="1"/>
          <p:nvPr/>
        </p:nvSpPr>
        <p:spPr>
          <a:xfrm>
            <a:off x="871550" y="1058875"/>
            <a:ext cx="67737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800000" dist="19050">
              <a:srgbClr val="000000">
                <a:alpha val="54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2400">
                <a:solidFill>
                  <a:srgbClr val="595959"/>
                </a:solidFill>
              </a:rPr>
              <a:t>Components del sistema informàtic: </a:t>
            </a:r>
            <a:r>
              <a:rPr lang="ca-ES" sz="2400"/>
              <a:t>Programari</a:t>
            </a:r>
            <a:endParaRPr sz="2400"/>
          </a:p>
        </p:txBody>
      </p:sp>
      <p:pic>
        <p:nvPicPr>
          <p:cNvPr id="786" name="Google Shape;786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17399" y="1689175"/>
            <a:ext cx="6559122" cy="45578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5"/>
          <p:cNvSpPr/>
          <p:nvPr/>
        </p:nvSpPr>
        <p:spPr>
          <a:xfrm>
            <a:off x="-32040" y="0"/>
            <a:ext cx="7896600" cy="757200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75"/>
          <p:cNvSpPr/>
          <p:nvPr/>
        </p:nvSpPr>
        <p:spPr>
          <a:xfrm>
            <a:off x="273960" y="5869080"/>
            <a:ext cx="11643900" cy="758100"/>
          </a:xfrm>
          <a:prstGeom prst="homePlate">
            <a:avLst>
              <a:gd fmla="val 50000" name="adj"/>
            </a:avLst>
          </a:prstGeom>
          <a:solidFill>
            <a:schemeClr val="lt1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40" y="5924520"/>
            <a:ext cx="4211280" cy="6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5"/>
          <p:cNvSpPr/>
          <p:nvPr/>
        </p:nvSpPr>
        <p:spPr>
          <a:xfrm>
            <a:off x="2335800" y="913580"/>
            <a:ext cx="7520400" cy="822900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2863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4800">
                <a:latin typeface="Calibri"/>
                <a:ea typeface="Calibri"/>
                <a:cs typeface="Calibri"/>
                <a:sym typeface="Calibri"/>
              </a:rPr>
              <a:t>Preguntes?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600" y="1819893"/>
            <a:ext cx="4395989" cy="3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5"/>
          <p:cNvSpPr/>
          <p:nvPr/>
        </p:nvSpPr>
        <p:spPr>
          <a:xfrm>
            <a:off x="207725" y="93600"/>
            <a:ext cx="7535700" cy="5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Sistemes Operatius Monolloc </a:t>
            </a:r>
            <a:r>
              <a:rPr b="1"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UF1</a:t>
            </a:r>
            <a:r>
              <a:rPr lang="ca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RA1 </a:t>
            </a:r>
            <a:r>
              <a:rPr b="1" lang="ca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A01</a:t>
            </a:r>
            <a:endParaRPr b="1"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