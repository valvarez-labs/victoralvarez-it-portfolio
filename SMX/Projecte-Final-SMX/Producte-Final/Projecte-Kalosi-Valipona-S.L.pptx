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Roboto"/>
      <p:regular r:id="rId38"/>
      <p:bold r:id="rId39"/>
      <p:italic r:id="rId40"/>
      <p:boldItalic r:id="rId41"/>
    </p:embeddedFont>
    <p:embeddedFont>
      <p:font typeface="Poppins"/>
      <p:regular r:id="rId42"/>
      <p:bold r:id="rId43"/>
      <p:italic r:id="rId44"/>
      <p:boldItalic r:id="rId45"/>
    </p:embeddedFont>
    <p:embeddedFont>
      <p:font typeface="Viga"/>
      <p:regular r:id="rId46"/>
    </p:embeddedFont>
    <p:embeddedFont>
      <p:font typeface="Fira Sans Medium"/>
      <p:regular r:id="rId47"/>
      <p:bold r:id="rId48"/>
      <p:italic r:id="rId49"/>
      <p:boldItalic r:id="rId50"/>
    </p:embeddedFont>
    <p:embeddedFont>
      <p:font typeface="Fira Sans"/>
      <p:regular r:id="rId51"/>
      <p:bold r:id="rId52"/>
      <p:italic r:id="rId53"/>
      <p:boldItalic r:id="rId54"/>
    </p:embeddedFont>
    <p:embeddedFont>
      <p:font typeface="PT Sans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AFB1CC-317A-4388-A43D-31EC362F92A6}">
  <a:tblStyle styleId="{C6AFB1CC-317A-4388-A43D-31EC362F92A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42" Type="http://schemas.openxmlformats.org/officeDocument/2006/relationships/font" Target="fonts/Poppins-regular.fntdata"/><Relationship Id="rId41" Type="http://schemas.openxmlformats.org/officeDocument/2006/relationships/font" Target="fonts/Roboto-boldItalic.fntdata"/><Relationship Id="rId44" Type="http://schemas.openxmlformats.org/officeDocument/2006/relationships/font" Target="fonts/Poppins-italic.fntdata"/><Relationship Id="rId43" Type="http://schemas.openxmlformats.org/officeDocument/2006/relationships/font" Target="fonts/Poppins-bold.fntdata"/><Relationship Id="rId46" Type="http://schemas.openxmlformats.org/officeDocument/2006/relationships/font" Target="fonts/Viga-regular.fntdata"/><Relationship Id="rId45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FiraSansMedium-bold.fntdata"/><Relationship Id="rId47" Type="http://schemas.openxmlformats.org/officeDocument/2006/relationships/font" Target="fonts/FiraSansMedium-regular.fntdata"/><Relationship Id="rId49" Type="http://schemas.openxmlformats.org/officeDocument/2006/relationships/font" Target="fonts/FiraSans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Roboto-bold.fntdata"/><Relationship Id="rId38" Type="http://schemas.openxmlformats.org/officeDocument/2006/relationships/font" Target="fonts/Roboto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FiraSans-regular.fntdata"/><Relationship Id="rId50" Type="http://schemas.openxmlformats.org/officeDocument/2006/relationships/font" Target="fonts/FiraSansMedium-boldItalic.fntdata"/><Relationship Id="rId53" Type="http://schemas.openxmlformats.org/officeDocument/2006/relationships/font" Target="fonts/FiraSans-italic.fntdata"/><Relationship Id="rId52" Type="http://schemas.openxmlformats.org/officeDocument/2006/relationships/font" Target="fonts/FiraSans-bold.fntdata"/><Relationship Id="rId11" Type="http://schemas.openxmlformats.org/officeDocument/2006/relationships/slide" Target="slides/slide6.xml"/><Relationship Id="rId55" Type="http://schemas.openxmlformats.org/officeDocument/2006/relationships/font" Target="fonts/PTSans-regular.fntdata"/><Relationship Id="rId10" Type="http://schemas.openxmlformats.org/officeDocument/2006/relationships/slide" Target="slides/slide5.xml"/><Relationship Id="rId54" Type="http://schemas.openxmlformats.org/officeDocument/2006/relationships/font" Target="fonts/FiraSans-boldItalic.fntdata"/><Relationship Id="rId13" Type="http://schemas.openxmlformats.org/officeDocument/2006/relationships/slide" Target="slides/slide8.xml"/><Relationship Id="rId57" Type="http://schemas.openxmlformats.org/officeDocument/2006/relationships/font" Target="fonts/PTSans-italic.fntdata"/><Relationship Id="rId12" Type="http://schemas.openxmlformats.org/officeDocument/2006/relationships/slide" Target="slides/slide7.xml"/><Relationship Id="rId56" Type="http://schemas.openxmlformats.org/officeDocument/2006/relationships/font" Target="fonts/PTSans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PT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402c2953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402c2953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84d99d1a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84d99d1a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84d99d1a7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84d99d1a7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84d99d1a7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84d99d1a7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54dda1946d_4_2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54dda1946d_4_2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5c9d28fb9e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5c9d28fb9e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5c9d28fb9e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5c9d28fb9e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5c9d28fb9e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5c9d28fb9e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5c9d28fb9e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5c9d28fb9e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5c9d28fb9e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5c9d28fb9e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5c9d28fb9e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5c9d28fb9e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5c9d28fb9e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5c9d28fb9e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5c9d28fb9e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5c9d28fb9e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184d99d1a72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184d99d1a72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5c9d28fb9e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5c9d28fb9e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5c9d28fb9e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5c9d28fb9e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5c9d28fb9e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5c9d28fb9e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54dda1946d_4_2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54dda1946d_4_2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5c9d28fb9e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5c9d28fb9e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5c9d28fb9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5c9d28fb9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5c9d28fb9e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5c9d28fb9e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5c9d28fb9e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5c9d28fb9e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5c9d28fb9e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35c9d28fb9e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5c9d28fb9e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5c9d28fb9e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5cd98c73d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5cd98c73d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54dda1946d_4_2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54dda1946d_4_2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hyperlink" Target="http://bit.ly/2TtBDfr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hyperlink" Target="https://bit.ly/3A1uf1Q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225" y="0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4303195" y="4617494"/>
            <a:ext cx="4845850" cy="529600"/>
            <a:chOff x="4296376" y="4610675"/>
            <a:chExt cx="4845850" cy="5296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3"/>
          <p:cNvSpPr txBox="1"/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3"/>
          <p:cNvSpPr txBox="1"/>
          <p:nvPr>
            <p:ph hasCustomPrompt="1" idx="2" type="title"/>
          </p:nvPr>
        </p:nvSpPr>
        <p:spPr>
          <a:xfrm>
            <a:off x="5690275" y="1037350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/>
          <p:nvPr>
            <p:ph idx="3" type="pic"/>
          </p:nvPr>
        </p:nvSpPr>
        <p:spPr>
          <a:xfrm>
            <a:off x="713225" y="539500"/>
            <a:ext cx="2760600" cy="40644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>
            <p:ph type="title"/>
          </p:nvPr>
        </p:nvSpPr>
        <p:spPr>
          <a:xfrm>
            <a:off x="713225" y="1099175"/>
            <a:ext cx="317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4" name="Google Shape;34;p4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35" name="Google Shape;35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6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" name="Google Shape;37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5400000"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9350" y="3712050"/>
            <a:ext cx="1768001" cy="135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/>
          <p:nvPr>
            <p:ph idx="1" type="subTitle"/>
          </p:nvPr>
        </p:nvSpPr>
        <p:spPr>
          <a:xfrm>
            <a:off x="713225" y="2630525"/>
            <a:ext cx="3171900" cy="16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3" type="subTitle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6" name="Google Shape;46;p5"/>
          <p:cNvSpPr txBox="1"/>
          <p:nvPr>
            <p:ph idx="4" type="subTitle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grpSp>
        <p:nvGrpSpPr>
          <p:cNvPr id="47" name="Google Shape;47;p5"/>
          <p:cNvGrpSpPr/>
          <p:nvPr/>
        </p:nvGrpSpPr>
        <p:grpSpPr>
          <a:xfrm rot="10800000">
            <a:off x="2620475" y="4773475"/>
            <a:ext cx="6523526" cy="3699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/>
          </a:blip>
          <a:srcRect b="18270" l="31652" r="0" t="131"/>
          <a:stretch/>
        </p:blipFill>
        <p:spPr>
          <a:xfrm flipH="1" rot="10800000">
            <a:off x="8199274" y="11375"/>
            <a:ext cx="1173326" cy="10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1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" type="subTitle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60" name="Google Shape;60;p7"/>
          <p:cNvSpPr/>
          <p:nvPr>
            <p:ph idx="2" type="pic"/>
          </p:nvPr>
        </p:nvSpPr>
        <p:spPr>
          <a:xfrm>
            <a:off x="5643775" y="539500"/>
            <a:ext cx="2787000" cy="40644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b="130" l="0" r="0" t="130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 l="0" r="0" t="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5400000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5400000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/>
          <p:nvPr>
            <p:ph hasCustomPrompt="1" type="title"/>
          </p:nvPr>
        </p:nvSpPr>
        <p:spPr>
          <a:xfrm>
            <a:off x="2476500" y="1872450"/>
            <a:ext cx="4191000" cy="1043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2476500" y="2839950"/>
            <a:ext cx="41910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70784" y="263618"/>
            <a:ext cx="1768000" cy="1350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1"/>
          <p:cNvGrpSpPr/>
          <p:nvPr/>
        </p:nvGrpSpPr>
        <p:grpSpPr>
          <a:xfrm flipH="1">
            <a:off x="0" y="0"/>
            <a:ext cx="9144000" cy="5158300"/>
            <a:chOff x="0" y="0"/>
            <a:chExt cx="9144000" cy="5158300"/>
          </a:xfrm>
        </p:grpSpPr>
        <p:pic>
          <p:nvPicPr>
            <p:cNvPr id="93" name="Google Shape;93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92450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1"/>
          <p:cNvGrpSpPr/>
          <p:nvPr/>
        </p:nvGrpSpPr>
        <p:grpSpPr>
          <a:xfrm flipH="1">
            <a:off x="-5031" y="0"/>
            <a:ext cx="9149031" cy="5153900"/>
            <a:chOff x="0" y="0"/>
            <a:chExt cx="9149031" cy="5153900"/>
          </a:xfrm>
        </p:grpSpPr>
        <p:grpSp>
          <p:nvGrpSpPr>
            <p:cNvPr id="96" name="Google Shape;96;p11"/>
            <p:cNvGrpSpPr/>
            <p:nvPr/>
          </p:nvGrpSpPr>
          <p:grpSpPr>
            <a:xfrm>
              <a:off x="2633530" y="4624325"/>
              <a:ext cx="6515501" cy="529575"/>
              <a:chOff x="2633530" y="4624325"/>
              <a:chExt cx="6515501" cy="529575"/>
            </a:xfrm>
          </p:grpSpPr>
          <p:pic>
            <p:nvPicPr>
              <p:cNvPr id="97" name="Google Shape;97;p1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10800000">
                <a:off x="2633530" y="4624325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10800000">
                <a:off x="7300206" y="485461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" name="Google Shape;99;p11"/>
            <p:cNvGrpSpPr/>
            <p:nvPr/>
          </p:nvGrpSpPr>
          <p:grpSpPr>
            <a:xfrm>
              <a:off x="0" y="0"/>
              <a:ext cx="6523526" cy="536050"/>
              <a:chOff x="0" y="0"/>
              <a:chExt cx="6523526" cy="536050"/>
            </a:xfrm>
          </p:grpSpPr>
          <p:pic>
            <p:nvPicPr>
              <p:cNvPr id="100" name="Google Shape;100;p1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65125" y="2466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hasCustomPrompt="1" idx="2" type="title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/>
          <p:nvPr>
            <p:ph hasCustomPrompt="1" idx="3" type="title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/>
          <p:nvPr>
            <p:ph hasCustomPrompt="1" idx="4" type="title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/>
          <p:nvPr>
            <p:ph hasCustomPrompt="1" idx="5" type="title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/>
          <p:nvPr>
            <p:ph hasCustomPrompt="1" idx="6" type="title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/>
          <p:nvPr>
            <p:ph hasCustomPrompt="1" idx="7" type="title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1280600" y="1699100"/>
            <a:ext cx="22881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3" name="Google Shape;113;p13"/>
          <p:cNvSpPr txBox="1"/>
          <p:nvPr>
            <p:ph idx="8" type="subTitle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4" name="Google Shape;114;p13"/>
          <p:cNvSpPr txBox="1"/>
          <p:nvPr>
            <p:ph idx="9" type="subTitle"/>
          </p:nvPr>
        </p:nvSpPr>
        <p:spPr>
          <a:xfrm>
            <a:off x="1280600" y="3864423"/>
            <a:ext cx="22881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5" name="Google Shape;115;p13"/>
          <p:cNvSpPr txBox="1"/>
          <p:nvPr>
            <p:ph idx="13" type="subTitle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6" name="Google Shape;116;p13"/>
          <p:cNvSpPr txBox="1"/>
          <p:nvPr>
            <p:ph idx="14" type="subTitle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7" name="Google Shape;117;p13"/>
          <p:cNvSpPr txBox="1"/>
          <p:nvPr>
            <p:ph idx="15" type="subTitle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grpSp>
        <p:nvGrpSpPr>
          <p:cNvPr id="118" name="Google Shape;118;p1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19" name="Google Shape;11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22" name="Google Shape;122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/>
          <p:nvPr>
            <p:ph type="title"/>
          </p:nvPr>
        </p:nvSpPr>
        <p:spPr>
          <a:xfrm>
            <a:off x="3835425" y="801507"/>
            <a:ext cx="4089300" cy="10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14"/>
          <p:cNvSpPr txBox="1"/>
          <p:nvPr>
            <p:ph idx="1" type="subTitle"/>
          </p:nvPr>
        </p:nvSpPr>
        <p:spPr>
          <a:xfrm>
            <a:off x="3835425" y="1898175"/>
            <a:ext cx="4089300" cy="21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3">
            <a:alphaModFix/>
          </a:blip>
          <a:srcRect b="22420" l="0" r="0" t="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4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131" name="Google Shape;131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ONE_COLUMN_TEXT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6" name="Google Shape;136;p15"/>
          <p:cNvSpPr txBox="1"/>
          <p:nvPr>
            <p:ph idx="1" type="subTitle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137" name="Google Shape;137;p15"/>
          <p:cNvSpPr/>
          <p:nvPr>
            <p:ph idx="2" type="pic"/>
          </p:nvPr>
        </p:nvSpPr>
        <p:spPr>
          <a:xfrm>
            <a:off x="5643775" y="539500"/>
            <a:ext cx="2787000" cy="40644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pic>
        <p:nvPicPr>
          <p:cNvPr id="138" name="Google Shape;13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 rotWithShape="1">
          <a:blip r:embed="rId4">
            <a:alphaModFix/>
          </a:blip>
          <a:srcRect b="130" l="0" r="0" t="130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141" name="Google Shape;141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15"/>
          <p:cNvSpPr txBox="1"/>
          <p:nvPr>
            <p:ph idx="3" type="subTitle"/>
          </p:nvPr>
        </p:nvSpPr>
        <p:spPr>
          <a:xfrm>
            <a:off x="713225" y="2109675"/>
            <a:ext cx="4294800" cy="25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>
            <p:ph type="title"/>
          </p:nvPr>
        </p:nvSpPr>
        <p:spPr>
          <a:xfrm>
            <a:off x="6001375" y="539500"/>
            <a:ext cx="2429400" cy="107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6001375" y="1515400"/>
            <a:ext cx="24294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8" name="Google Shape;148;p16"/>
          <p:cNvSpPr/>
          <p:nvPr>
            <p:ph idx="2" type="pic"/>
          </p:nvPr>
        </p:nvSpPr>
        <p:spPr>
          <a:xfrm>
            <a:off x="713225" y="539500"/>
            <a:ext cx="2801100" cy="40647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49" name="Google Shape;149;p16"/>
          <p:cNvSpPr/>
          <p:nvPr>
            <p:ph idx="3" type="pic"/>
          </p:nvPr>
        </p:nvSpPr>
        <p:spPr>
          <a:xfrm>
            <a:off x="3595575" y="539500"/>
            <a:ext cx="2191200" cy="23283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0" name="Google Shape;150;p16"/>
          <p:cNvSpPr/>
          <p:nvPr>
            <p:ph idx="4" type="pic"/>
          </p:nvPr>
        </p:nvSpPr>
        <p:spPr>
          <a:xfrm>
            <a:off x="3595575" y="2953775"/>
            <a:ext cx="4835100" cy="16503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pic>
        <p:nvPicPr>
          <p:cNvPr id="151" name="Google Shape;151;p16"/>
          <p:cNvPicPr preferRelativeResize="0"/>
          <p:nvPr/>
        </p:nvPicPr>
        <p:blipFill rotWithShape="1">
          <a:blip r:embed="rId3">
            <a:alphaModFix/>
          </a:blip>
          <a:srcRect b="130" l="73637" r="0" t="130"/>
          <a:stretch/>
        </p:blipFill>
        <p:spPr>
          <a:xfrm>
            <a:off x="10239" y="3372450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16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153" name="Google Shape;153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5400000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 rot="5400000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16"/>
          <p:cNvGrpSpPr/>
          <p:nvPr/>
        </p:nvGrpSpPr>
        <p:grpSpPr>
          <a:xfrm>
            <a:off x="5356527" y="4752250"/>
            <a:ext cx="3785698" cy="388025"/>
            <a:chOff x="5356527" y="4752250"/>
            <a:chExt cx="3785698" cy="388025"/>
          </a:xfrm>
        </p:grpSpPr>
        <p:pic>
          <p:nvPicPr>
            <p:cNvPr id="156" name="Google Shape;156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5356527" y="4752250"/>
              <a:ext cx="3785698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720000" y="640080"/>
            <a:ext cx="3234900" cy="11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720000" y="2101875"/>
            <a:ext cx="3234900" cy="12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65" name="Google Shape;165;p18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66" name="Google Shape;16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18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69" name="Google Shape;16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2145600" y="2101875"/>
            <a:ext cx="4852800" cy="17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72" name="Google Shape;172;p18"/>
          <p:cNvSpPr txBox="1"/>
          <p:nvPr>
            <p:ph idx="2" type="subTitle"/>
          </p:nvPr>
        </p:nvSpPr>
        <p:spPr>
          <a:xfrm>
            <a:off x="2145600" y="2101150"/>
            <a:ext cx="4852800" cy="17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>
            <p:ph type="title"/>
          </p:nvPr>
        </p:nvSpPr>
        <p:spPr>
          <a:xfrm>
            <a:off x="720000" y="53849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19"/>
          <p:cNvSpPr txBox="1"/>
          <p:nvPr>
            <p:ph idx="1" type="subTitle"/>
          </p:nvPr>
        </p:nvSpPr>
        <p:spPr>
          <a:xfrm>
            <a:off x="709750" y="2636600"/>
            <a:ext cx="2225700" cy="19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7" name="Google Shape;177;p19"/>
          <p:cNvSpPr txBox="1"/>
          <p:nvPr>
            <p:ph idx="2" type="subTitle"/>
          </p:nvPr>
        </p:nvSpPr>
        <p:spPr>
          <a:xfrm>
            <a:off x="3457413" y="2636600"/>
            <a:ext cx="2225700" cy="19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19"/>
          <p:cNvSpPr txBox="1"/>
          <p:nvPr>
            <p:ph idx="3" type="subTitle"/>
          </p:nvPr>
        </p:nvSpPr>
        <p:spPr>
          <a:xfrm>
            <a:off x="6205076" y="2636600"/>
            <a:ext cx="2225700" cy="19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9" name="Google Shape;179;p19"/>
          <p:cNvSpPr txBox="1"/>
          <p:nvPr>
            <p:ph idx="4" type="subTitle"/>
          </p:nvPr>
        </p:nvSpPr>
        <p:spPr>
          <a:xfrm>
            <a:off x="709758" y="2073291"/>
            <a:ext cx="2225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80" name="Google Shape;180;p19"/>
          <p:cNvSpPr txBox="1"/>
          <p:nvPr>
            <p:ph idx="5" type="subTitle"/>
          </p:nvPr>
        </p:nvSpPr>
        <p:spPr>
          <a:xfrm>
            <a:off x="3459159" y="2073291"/>
            <a:ext cx="2225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81" name="Google Shape;181;p19"/>
          <p:cNvSpPr txBox="1"/>
          <p:nvPr>
            <p:ph idx="6" type="subTitle"/>
          </p:nvPr>
        </p:nvSpPr>
        <p:spPr>
          <a:xfrm>
            <a:off x="6205085" y="2073291"/>
            <a:ext cx="2225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pic>
        <p:nvPicPr>
          <p:cNvPr id="182" name="Google Shape;1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17120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84" name="Google Shape;184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9" name="Google Shape;189;p20"/>
          <p:cNvSpPr txBox="1"/>
          <p:nvPr>
            <p:ph idx="1" type="subTitle"/>
          </p:nvPr>
        </p:nvSpPr>
        <p:spPr>
          <a:xfrm>
            <a:off x="720000" y="1679350"/>
            <a:ext cx="35496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0" name="Google Shape;190;p20"/>
          <p:cNvSpPr txBox="1"/>
          <p:nvPr>
            <p:ph idx="2" type="subTitle"/>
          </p:nvPr>
        </p:nvSpPr>
        <p:spPr>
          <a:xfrm>
            <a:off x="4881166" y="1679350"/>
            <a:ext cx="35496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>
            <p:ph idx="3" type="subTitle"/>
          </p:nvPr>
        </p:nvSpPr>
        <p:spPr>
          <a:xfrm>
            <a:off x="720000" y="3396200"/>
            <a:ext cx="35496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20"/>
          <p:cNvSpPr txBox="1"/>
          <p:nvPr>
            <p:ph idx="4" type="subTitle"/>
          </p:nvPr>
        </p:nvSpPr>
        <p:spPr>
          <a:xfrm>
            <a:off x="4881166" y="3396200"/>
            <a:ext cx="35496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20"/>
          <p:cNvSpPr txBox="1"/>
          <p:nvPr>
            <p:ph idx="5" type="subTitle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94" name="Google Shape;194;p20"/>
          <p:cNvSpPr txBox="1"/>
          <p:nvPr>
            <p:ph idx="6" type="subTitle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95" name="Google Shape;195;p20"/>
          <p:cNvSpPr txBox="1"/>
          <p:nvPr>
            <p:ph idx="7" type="subTitle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96" name="Google Shape;196;p20"/>
          <p:cNvSpPr txBox="1"/>
          <p:nvPr>
            <p:ph idx="8" type="subTitle"/>
          </p:nvPr>
        </p:nvSpPr>
        <p:spPr>
          <a:xfrm>
            <a:off x="4881130" y="3146911"/>
            <a:ext cx="3549600" cy="37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grpSp>
        <p:nvGrpSpPr>
          <p:cNvPr id="197" name="Google Shape;197;p20"/>
          <p:cNvGrpSpPr/>
          <p:nvPr/>
        </p:nvGrpSpPr>
        <p:grpSpPr>
          <a:xfrm>
            <a:off x="-1" y="-4719"/>
            <a:ext cx="9144001" cy="5148207"/>
            <a:chOff x="-1" y="-4719"/>
            <a:chExt cx="9144001" cy="5148207"/>
          </a:xfrm>
        </p:grpSpPr>
        <p:pic>
          <p:nvPicPr>
            <p:cNvPr id="198" name="Google Shape;19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5400000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5400000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" name="Google Shape;200;p20"/>
          <p:cNvGrpSpPr/>
          <p:nvPr/>
        </p:nvGrpSpPr>
        <p:grpSpPr>
          <a:xfrm rot="10800000">
            <a:off x="0" y="-4719"/>
            <a:ext cx="4881173" cy="365700"/>
            <a:chOff x="4261050" y="4610675"/>
            <a:chExt cx="4881173" cy="365700"/>
          </a:xfrm>
        </p:grpSpPr>
        <p:pic>
          <p:nvPicPr>
            <p:cNvPr id="201" name="Google Shape;201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6" name="Google Shape;206;p21"/>
          <p:cNvSpPr txBox="1"/>
          <p:nvPr>
            <p:ph idx="1" type="subTitle"/>
          </p:nvPr>
        </p:nvSpPr>
        <p:spPr>
          <a:xfrm>
            <a:off x="720075" y="1682496"/>
            <a:ext cx="23631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21"/>
          <p:cNvSpPr txBox="1"/>
          <p:nvPr>
            <p:ph idx="2" type="subTitle"/>
          </p:nvPr>
        </p:nvSpPr>
        <p:spPr>
          <a:xfrm>
            <a:off x="3393880" y="1682496"/>
            <a:ext cx="23631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8" name="Google Shape;208;p21"/>
          <p:cNvSpPr txBox="1"/>
          <p:nvPr>
            <p:ph idx="3" type="subTitle"/>
          </p:nvPr>
        </p:nvSpPr>
        <p:spPr>
          <a:xfrm>
            <a:off x="720075" y="3398557"/>
            <a:ext cx="23631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9" name="Google Shape;209;p21"/>
          <p:cNvSpPr txBox="1"/>
          <p:nvPr>
            <p:ph idx="4" type="subTitle"/>
          </p:nvPr>
        </p:nvSpPr>
        <p:spPr>
          <a:xfrm>
            <a:off x="3393880" y="3398557"/>
            <a:ext cx="23631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0" name="Google Shape;210;p21"/>
          <p:cNvSpPr txBox="1"/>
          <p:nvPr>
            <p:ph idx="5" type="subTitle"/>
          </p:nvPr>
        </p:nvSpPr>
        <p:spPr>
          <a:xfrm>
            <a:off x="6067686" y="1682496"/>
            <a:ext cx="23631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21"/>
          <p:cNvSpPr txBox="1"/>
          <p:nvPr>
            <p:ph idx="6" type="subTitle"/>
          </p:nvPr>
        </p:nvSpPr>
        <p:spPr>
          <a:xfrm>
            <a:off x="6067686" y="3398557"/>
            <a:ext cx="23631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21"/>
          <p:cNvSpPr txBox="1"/>
          <p:nvPr>
            <p:ph idx="7" type="subTitle"/>
          </p:nvPr>
        </p:nvSpPr>
        <p:spPr>
          <a:xfrm>
            <a:off x="720075" y="1426464"/>
            <a:ext cx="2363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3" name="Google Shape;213;p21"/>
          <p:cNvSpPr txBox="1"/>
          <p:nvPr>
            <p:ph idx="8" type="subTitle"/>
          </p:nvPr>
        </p:nvSpPr>
        <p:spPr>
          <a:xfrm>
            <a:off x="3395380" y="1426464"/>
            <a:ext cx="2360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4" name="Google Shape;214;p21"/>
          <p:cNvSpPr txBox="1"/>
          <p:nvPr>
            <p:ph idx="9" type="subTitle"/>
          </p:nvPr>
        </p:nvSpPr>
        <p:spPr>
          <a:xfrm>
            <a:off x="6067686" y="1426464"/>
            <a:ext cx="2360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5" name="Google Shape;215;p21"/>
          <p:cNvSpPr txBox="1"/>
          <p:nvPr>
            <p:ph idx="13" type="subTitle"/>
          </p:nvPr>
        </p:nvSpPr>
        <p:spPr>
          <a:xfrm>
            <a:off x="720075" y="3145536"/>
            <a:ext cx="2363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6" name="Google Shape;216;p21"/>
          <p:cNvSpPr txBox="1"/>
          <p:nvPr>
            <p:ph idx="14" type="subTitle"/>
          </p:nvPr>
        </p:nvSpPr>
        <p:spPr>
          <a:xfrm>
            <a:off x="3393880" y="3145541"/>
            <a:ext cx="2360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7" name="Google Shape;217;p21"/>
          <p:cNvSpPr txBox="1"/>
          <p:nvPr>
            <p:ph idx="15" type="subTitle"/>
          </p:nvPr>
        </p:nvSpPr>
        <p:spPr>
          <a:xfrm>
            <a:off x="6067686" y="3145541"/>
            <a:ext cx="2360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22414" l="68149" r="0" t="0"/>
          <a:stretch/>
        </p:blipFill>
        <p:spPr>
          <a:xfrm rot="10800000">
            <a:off x="8580849" y="64376"/>
            <a:ext cx="563126" cy="104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1712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>
            <p:ph hasCustomPrompt="1" type="title"/>
          </p:nvPr>
        </p:nvSpPr>
        <p:spPr>
          <a:xfrm>
            <a:off x="3099888" y="2045129"/>
            <a:ext cx="29442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3" name="Google Shape;223;p22"/>
          <p:cNvSpPr txBox="1"/>
          <p:nvPr>
            <p:ph idx="1" type="subTitle"/>
          </p:nvPr>
        </p:nvSpPr>
        <p:spPr>
          <a:xfrm>
            <a:off x="3099898" y="2737825"/>
            <a:ext cx="2944200" cy="3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24" name="Google Shape;224;p22"/>
          <p:cNvSpPr txBox="1"/>
          <p:nvPr>
            <p:ph hasCustomPrompt="1" idx="2" type="title"/>
          </p:nvPr>
        </p:nvSpPr>
        <p:spPr>
          <a:xfrm>
            <a:off x="3099904" y="669938"/>
            <a:ext cx="29442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22"/>
          <p:cNvSpPr txBox="1"/>
          <p:nvPr>
            <p:ph idx="3" type="subTitle"/>
          </p:nvPr>
        </p:nvSpPr>
        <p:spPr>
          <a:xfrm>
            <a:off x="3099904" y="1362646"/>
            <a:ext cx="2944200" cy="3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26" name="Google Shape;226;p22"/>
          <p:cNvSpPr txBox="1"/>
          <p:nvPr>
            <p:ph hasCustomPrompt="1" idx="4" type="title"/>
          </p:nvPr>
        </p:nvSpPr>
        <p:spPr>
          <a:xfrm>
            <a:off x="3099896" y="3420317"/>
            <a:ext cx="29442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7" name="Google Shape;227;p22"/>
          <p:cNvSpPr txBox="1"/>
          <p:nvPr>
            <p:ph idx="5" type="subTitle"/>
          </p:nvPr>
        </p:nvSpPr>
        <p:spPr>
          <a:xfrm>
            <a:off x="3099906" y="4113013"/>
            <a:ext cx="2944200" cy="3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228" name="Google Shape;228;p22"/>
          <p:cNvGrpSpPr/>
          <p:nvPr/>
        </p:nvGrpSpPr>
        <p:grpSpPr>
          <a:xfrm>
            <a:off x="0" y="0"/>
            <a:ext cx="9149044" cy="5153909"/>
            <a:chOff x="0" y="0"/>
            <a:chExt cx="9149044" cy="5153909"/>
          </a:xfrm>
        </p:grpSpPr>
        <p:grpSp>
          <p:nvGrpSpPr>
            <p:cNvPr id="229" name="Google Shape;229;p22"/>
            <p:cNvGrpSpPr/>
            <p:nvPr/>
          </p:nvGrpSpPr>
          <p:grpSpPr>
            <a:xfrm>
              <a:off x="2633519" y="4796608"/>
              <a:ext cx="6515525" cy="357300"/>
              <a:chOff x="2633519" y="4796608"/>
              <a:chExt cx="6515525" cy="357300"/>
            </a:xfrm>
          </p:grpSpPr>
          <p:pic>
            <p:nvPicPr>
              <p:cNvPr id="230" name="Google Shape;230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33519" y="4796608"/>
                <a:ext cx="6515525" cy="357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1" name="Google Shape;231;p2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9407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2" name="Google Shape;232;p22"/>
            <p:cNvGrpSpPr/>
            <p:nvPr/>
          </p:nvGrpSpPr>
          <p:grpSpPr>
            <a:xfrm>
              <a:off x="0" y="0"/>
              <a:ext cx="6523526" cy="359400"/>
              <a:chOff x="0" y="0"/>
              <a:chExt cx="6523526" cy="359400"/>
            </a:xfrm>
          </p:grpSpPr>
          <p:pic>
            <p:nvPicPr>
              <p:cNvPr id="233" name="Google Shape;233;p2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4" name="Google Shape;234;p2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35" name="Google Shape;235;p22"/>
          <p:cNvPicPr preferRelativeResize="0"/>
          <p:nvPr/>
        </p:nvPicPr>
        <p:blipFill rotWithShape="1">
          <a:blip r:embed="rId6">
            <a:alphaModFix/>
          </a:blip>
          <a:srcRect b="130" l="0" r="0" t="130"/>
          <a:stretch/>
        </p:blipFill>
        <p:spPr>
          <a:xfrm rot="5400000">
            <a:off x="-128174" y="3562553"/>
            <a:ext cx="1716695" cy="1307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39" name="Google Shape;239;p23"/>
          <p:cNvGrpSpPr/>
          <p:nvPr/>
        </p:nvGrpSpPr>
        <p:grpSpPr>
          <a:xfrm>
            <a:off x="0" y="0"/>
            <a:ext cx="6523526" cy="369900"/>
            <a:chOff x="0" y="0"/>
            <a:chExt cx="6523526" cy="369900"/>
          </a:xfrm>
        </p:grpSpPr>
        <p:pic>
          <p:nvPicPr>
            <p:cNvPr id="240" name="Google Shape;240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" name="Google Shape;242;p23"/>
          <p:cNvGrpSpPr/>
          <p:nvPr/>
        </p:nvGrpSpPr>
        <p:grpSpPr>
          <a:xfrm>
            <a:off x="0" y="0"/>
            <a:ext cx="9144000" cy="5143512"/>
            <a:chOff x="0" y="0"/>
            <a:chExt cx="9144000" cy="5143512"/>
          </a:xfrm>
        </p:grpSpPr>
        <p:pic>
          <p:nvPicPr>
            <p:cNvPr id="243" name="Google Shape;243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48" name="Google Shape;248;p24"/>
          <p:cNvPicPr preferRelativeResize="0"/>
          <p:nvPr/>
        </p:nvPicPr>
        <p:blipFill rotWithShape="1">
          <a:blip r:embed="rId3">
            <a:alphaModFix/>
          </a:blip>
          <a:srcRect b="34262" l="14814" r="0" t="0"/>
          <a:stretch/>
        </p:blipFill>
        <p:spPr>
          <a:xfrm rot="10800000">
            <a:off x="7654149" y="-40526"/>
            <a:ext cx="1506076" cy="887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24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250" name="Google Shape;250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55" name="Google Shape;255;p25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8" name="Google Shape;258;p25"/>
          <p:cNvPicPr preferRelativeResize="0"/>
          <p:nvPr/>
        </p:nvPicPr>
        <p:blipFill rotWithShape="1">
          <a:blip r:embed="rId5">
            <a:alphaModFix/>
          </a:blip>
          <a:srcRect b="41941" l="0" r="56111" t="0"/>
          <a:stretch/>
        </p:blipFill>
        <p:spPr>
          <a:xfrm rot="-5400000">
            <a:off x="8325038" y="4266787"/>
            <a:ext cx="775950" cy="78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-5400000">
            <a:off x="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63" name="Google Shape;263;p26"/>
          <p:cNvPicPr preferRelativeResize="0"/>
          <p:nvPr/>
        </p:nvPicPr>
        <p:blipFill rotWithShape="1">
          <a:blip r:embed="rId3">
            <a:alphaModFix/>
          </a:blip>
          <a:srcRect b="35496" l="0" r="0" t="129"/>
          <a:stretch/>
        </p:blipFill>
        <p:spPr>
          <a:xfrm>
            <a:off x="6296175" y="4293872"/>
            <a:ext cx="1716701" cy="84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26"/>
          <p:cNvGrpSpPr/>
          <p:nvPr/>
        </p:nvGrpSpPr>
        <p:grpSpPr>
          <a:xfrm>
            <a:off x="0" y="0"/>
            <a:ext cx="3789523" cy="359400"/>
            <a:chOff x="0" y="0"/>
            <a:chExt cx="3789523" cy="359400"/>
          </a:xfrm>
        </p:grpSpPr>
        <p:pic>
          <p:nvPicPr>
            <p:cNvPr id="265" name="Google Shape;265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2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7" name="Google Shape;26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10800000">
            <a:off x="81712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71" name="Google Shape;271;p27"/>
          <p:cNvGrpSpPr/>
          <p:nvPr/>
        </p:nvGrpSpPr>
        <p:grpSpPr>
          <a:xfrm flipH="1" rot="10800000">
            <a:off x="5131123" y="0"/>
            <a:ext cx="4012877" cy="359400"/>
            <a:chOff x="5129348" y="4780863"/>
            <a:chExt cx="4012877" cy="359400"/>
          </a:xfrm>
        </p:grpSpPr>
        <p:pic>
          <p:nvPicPr>
            <p:cNvPr id="272" name="Google Shape;27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5129348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4" name="Google Shape;27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25" y="0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6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78" name="Google Shape;278;p28"/>
          <p:cNvGrpSpPr/>
          <p:nvPr/>
        </p:nvGrpSpPr>
        <p:grpSpPr>
          <a:xfrm>
            <a:off x="0" y="12"/>
            <a:ext cx="9144000" cy="5143487"/>
            <a:chOff x="0" y="12"/>
            <a:chExt cx="9144000" cy="5143487"/>
          </a:xfrm>
        </p:grpSpPr>
        <p:pic>
          <p:nvPicPr>
            <p:cNvPr id="279" name="Google Shape;279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-5400000">
              <a:off x="0" y="4170725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-5400000">
              <a:off x="8171225" y="12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28"/>
          <p:cNvGrpSpPr/>
          <p:nvPr/>
        </p:nvGrpSpPr>
        <p:grpSpPr>
          <a:xfrm rot="10800000">
            <a:off x="0" y="0"/>
            <a:ext cx="4012877" cy="359400"/>
            <a:chOff x="5129346" y="4780863"/>
            <a:chExt cx="4012877" cy="359400"/>
          </a:xfrm>
        </p:grpSpPr>
        <p:pic>
          <p:nvPicPr>
            <p:cNvPr id="282" name="Google Shape;28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5129346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260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9"/>
          <p:cNvSpPr txBox="1"/>
          <p:nvPr>
            <p:ph type="title"/>
          </p:nvPr>
        </p:nvSpPr>
        <p:spPr>
          <a:xfrm>
            <a:off x="713227" y="540000"/>
            <a:ext cx="4151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7" name="Google Shape;287;p29"/>
          <p:cNvSpPr txBox="1"/>
          <p:nvPr>
            <p:ph idx="1" type="subTitle"/>
          </p:nvPr>
        </p:nvSpPr>
        <p:spPr>
          <a:xfrm>
            <a:off x="713213" y="2369350"/>
            <a:ext cx="36993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8" name="Google Shape;288;p29"/>
          <p:cNvSpPr/>
          <p:nvPr>
            <p:ph idx="2" type="pic"/>
          </p:nvPr>
        </p:nvSpPr>
        <p:spPr>
          <a:xfrm>
            <a:off x="713225" y="539550"/>
            <a:ext cx="3072600" cy="40644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grpSp>
        <p:nvGrpSpPr>
          <p:cNvPr id="289" name="Google Shape;289;p29"/>
          <p:cNvGrpSpPr/>
          <p:nvPr/>
        </p:nvGrpSpPr>
        <p:grpSpPr>
          <a:xfrm>
            <a:off x="-6816" y="0"/>
            <a:ext cx="9150952" cy="5153913"/>
            <a:chOff x="-6816" y="0"/>
            <a:chExt cx="9150952" cy="5153913"/>
          </a:xfrm>
        </p:grpSpPr>
        <p:grpSp>
          <p:nvGrpSpPr>
            <p:cNvPr id="290" name="Google Shape;290;p29"/>
            <p:cNvGrpSpPr/>
            <p:nvPr/>
          </p:nvGrpSpPr>
          <p:grpSpPr>
            <a:xfrm flipH="1">
              <a:off x="5354613" y="0"/>
              <a:ext cx="3789523" cy="359400"/>
              <a:chOff x="0" y="0"/>
              <a:chExt cx="3789523" cy="359400"/>
            </a:xfrm>
          </p:grpSpPr>
          <p:pic>
            <p:nvPicPr>
              <p:cNvPr id="291" name="Google Shape;291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0" y="0"/>
                <a:ext cx="3789523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2" name="Google Shape;292;p2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3" name="Google Shape;293;p29"/>
            <p:cNvGrpSpPr/>
            <p:nvPr/>
          </p:nvGrpSpPr>
          <p:grpSpPr>
            <a:xfrm flipH="1">
              <a:off x="-6816" y="4765888"/>
              <a:ext cx="3785698" cy="388025"/>
              <a:chOff x="5363346" y="4765888"/>
              <a:chExt cx="3785698" cy="388025"/>
            </a:xfrm>
          </p:grpSpPr>
          <p:pic>
            <p:nvPicPr>
              <p:cNvPr id="294" name="Google Shape;294;p2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10800000">
                <a:off x="5363346" y="4765888"/>
                <a:ext cx="3785698" cy="3880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5" name="Google Shape;295;p2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300206" y="49254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96" name="Google Shape;296;p29"/>
          <p:cNvGrpSpPr/>
          <p:nvPr/>
        </p:nvGrpSpPr>
        <p:grpSpPr>
          <a:xfrm>
            <a:off x="0" y="-11538"/>
            <a:ext cx="9143999" cy="5155025"/>
            <a:chOff x="0" y="-11538"/>
            <a:chExt cx="9143999" cy="5155025"/>
          </a:xfrm>
        </p:grpSpPr>
        <p:pic>
          <p:nvPicPr>
            <p:cNvPr id="297" name="Google Shape;297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0" y="-11538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8171224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" name="Google Shape;299;p29"/>
          <p:cNvSpPr txBox="1"/>
          <p:nvPr/>
        </p:nvSpPr>
        <p:spPr>
          <a:xfrm>
            <a:off x="713224" y="3542325"/>
            <a:ext cx="34254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Slidesgo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 </a:t>
            </a:r>
            <a:r>
              <a:rPr b="1" lang="en" sz="1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0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/>
          <p:cNvPicPr preferRelativeResize="0"/>
          <p:nvPr/>
        </p:nvPicPr>
        <p:blipFill rotWithShape="1">
          <a:blip r:embed="rId3">
            <a:alphaModFix/>
          </a:blip>
          <a:srcRect b="130" l="0" r="0" t="130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0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p30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308" name="Google Shape;308;p3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3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/>
          <p:cNvPicPr preferRelativeResize="0"/>
          <p:nvPr/>
        </p:nvPicPr>
        <p:blipFill rotWithShape="1">
          <a:blip r:embed="rId3">
            <a:alphaModFix/>
          </a:blip>
          <a:srcRect b="130" l="73637" r="0" t="130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1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314" name="Google Shape;314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 rot="5400000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" name="Google Shape;316;p31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317" name="Google Shape;317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4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Relationship Id="rId10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66.png"/><Relationship Id="rId5" Type="http://schemas.openxmlformats.org/officeDocument/2006/relationships/image" Target="../media/image23.png"/><Relationship Id="rId6" Type="http://schemas.openxmlformats.org/officeDocument/2006/relationships/image" Target="../media/image32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Relationship Id="rId11" Type="http://schemas.openxmlformats.org/officeDocument/2006/relationships/image" Target="../media/image14.png"/><Relationship Id="rId10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9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Relationship Id="rId4" Type="http://schemas.openxmlformats.org/officeDocument/2006/relationships/image" Target="../media/image35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11.png"/><Relationship Id="rId6" Type="http://schemas.openxmlformats.org/officeDocument/2006/relationships/image" Target="../media/image39.png"/><Relationship Id="rId7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Relationship Id="rId4" Type="http://schemas.openxmlformats.org/officeDocument/2006/relationships/image" Target="../media/image42.png"/><Relationship Id="rId5" Type="http://schemas.openxmlformats.org/officeDocument/2006/relationships/image" Target="../media/image38.png"/><Relationship Id="rId6" Type="http://schemas.openxmlformats.org/officeDocument/2006/relationships/image" Target="../media/image41.png"/><Relationship Id="rId7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Relationship Id="rId6" Type="http://schemas.openxmlformats.org/officeDocument/2006/relationships/image" Target="../media/image57.png"/><Relationship Id="rId7" Type="http://schemas.openxmlformats.org/officeDocument/2006/relationships/image" Target="../media/image40.png"/><Relationship Id="rId8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0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7.jpg"/><Relationship Id="rId4" Type="http://schemas.openxmlformats.org/officeDocument/2006/relationships/image" Target="../media/image59.jpg"/><Relationship Id="rId5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5.png"/><Relationship Id="rId4" Type="http://schemas.openxmlformats.org/officeDocument/2006/relationships/image" Target="../media/image46.png"/><Relationship Id="rId5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5.png"/><Relationship Id="rId4" Type="http://schemas.openxmlformats.org/officeDocument/2006/relationships/image" Target="../media/image49.png"/><Relationship Id="rId5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2.png"/><Relationship Id="rId4" Type="http://schemas.openxmlformats.org/officeDocument/2006/relationships/image" Target="../media/image14.png"/><Relationship Id="rId5" Type="http://schemas.openxmlformats.org/officeDocument/2006/relationships/image" Target="../media/image5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7.png"/><Relationship Id="rId4" Type="http://schemas.openxmlformats.org/officeDocument/2006/relationships/image" Target="../media/image60.png"/><Relationship Id="rId5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8.png"/><Relationship Id="rId4" Type="http://schemas.openxmlformats.org/officeDocument/2006/relationships/image" Target="../media/image14.png"/><Relationship Id="rId5" Type="http://schemas.openxmlformats.org/officeDocument/2006/relationships/image" Target="../media/image5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2.png"/><Relationship Id="rId4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3.png"/><Relationship Id="rId4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Relationship Id="rId4" Type="http://schemas.openxmlformats.org/officeDocument/2006/relationships/image" Target="../media/image11.png"/><Relationship Id="rId5" Type="http://schemas.openxmlformats.org/officeDocument/2006/relationships/image" Target="../media/image41.png"/><Relationship Id="rId6" Type="http://schemas.openxmlformats.org/officeDocument/2006/relationships/image" Target="../media/image56.png"/><Relationship Id="rId7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0.png"/><Relationship Id="rId4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5.png"/><Relationship Id="rId4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6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Projecte: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Kalosi Valipona SL</a:t>
            </a:r>
            <a:endParaRPr/>
          </a:p>
        </p:txBody>
      </p:sp>
      <p:sp>
        <p:nvSpPr>
          <p:cNvPr id="324" name="Google Shape;324;p32"/>
          <p:cNvSpPr txBox="1"/>
          <p:nvPr>
            <p:ph idx="1" type="subTitle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Desenvolupat per: Victor Alvarez, Jan Borras i Roc Igual</a:t>
            </a:r>
            <a:endParaRPr b="1" sz="1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32" title="ChatGPT_Image_21_de_maig_del_2025__13_23_0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2400" y="97399"/>
            <a:ext cx="1969400" cy="196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3"/>
          <p:cNvSpPr txBox="1"/>
          <p:nvPr/>
        </p:nvSpPr>
        <p:spPr>
          <a:xfrm>
            <a:off x="1184038" y="1472000"/>
            <a:ext cx="16368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Medium"/>
                <a:ea typeface="Fira Sans Medium"/>
                <a:cs typeface="Fira Sans Medium"/>
                <a:sym typeface="Fira Sans Medium"/>
              </a:rPr>
              <a:t>Sobre Nosaltres</a:t>
            </a:r>
            <a:endParaRPr sz="11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1" name="Google Shape;331;p33"/>
          <p:cNvSpPr txBox="1"/>
          <p:nvPr/>
        </p:nvSpPr>
        <p:spPr>
          <a:xfrm>
            <a:off x="1184050" y="2624725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Medium"/>
                <a:ea typeface="Fira Sans Medium"/>
                <a:cs typeface="Fira Sans Medium"/>
                <a:sym typeface="Fira Sans Medium"/>
              </a:rPr>
              <a:t>Estructura de la xarxa</a:t>
            </a:r>
            <a:endParaRPr sz="11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1087307" y="3812975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Medium"/>
                <a:ea typeface="Fira Sans Medium"/>
                <a:cs typeface="Fira Sans Medium"/>
                <a:sym typeface="Fira Sans Medium"/>
              </a:rPr>
              <a:t>Distribució de les pàgines web</a:t>
            </a:r>
            <a:endParaRPr sz="11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" name="Google Shape;333;p33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Índex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" name="Google Shape;334;p33"/>
          <p:cNvSpPr txBox="1"/>
          <p:nvPr/>
        </p:nvSpPr>
        <p:spPr>
          <a:xfrm>
            <a:off x="6371500" y="1493225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Medium"/>
                <a:ea typeface="Fira Sans Medium"/>
                <a:cs typeface="Fira Sans Medium"/>
                <a:sym typeface="Fira Sans Medium"/>
              </a:rPr>
              <a:t>Presentació del producte</a:t>
            </a:r>
            <a:endParaRPr sz="11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5" name="Google Shape;335;p33"/>
          <p:cNvSpPr txBox="1"/>
          <p:nvPr/>
        </p:nvSpPr>
        <p:spPr>
          <a:xfrm>
            <a:off x="6269825" y="2653112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Medium"/>
                <a:ea typeface="Fira Sans Medium"/>
                <a:cs typeface="Fira Sans Medium"/>
                <a:sym typeface="Fira Sans Medium"/>
              </a:rPr>
              <a:t>Seguretat aplicada en l’empresa</a:t>
            </a:r>
            <a:endParaRPr sz="11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6" name="Google Shape;336;p33"/>
          <p:cNvSpPr txBox="1"/>
          <p:nvPr/>
        </p:nvSpPr>
        <p:spPr>
          <a:xfrm>
            <a:off x="6323132" y="3812975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Medium"/>
                <a:ea typeface="Fira Sans Medium"/>
                <a:cs typeface="Fira Sans Medium"/>
                <a:sym typeface="Fira Sans Medium"/>
              </a:rPr>
              <a:t>Monitoratge i manteniment dels servidors</a:t>
            </a:r>
            <a:endParaRPr sz="11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337" name="Google Shape;337;p33"/>
          <p:cNvGrpSpPr/>
          <p:nvPr/>
        </p:nvGrpSpPr>
        <p:grpSpPr>
          <a:xfrm>
            <a:off x="2820853" y="1403508"/>
            <a:ext cx="3502263" cy="2951424"/>
            <a:chOff x="2820853" y="1403508"/>
            <a:chExt cx="3502263" cy="2951424"/>
          </a:xfrm>
        </p:grpSpPr>
        <p:sp>
          <p:nvSpPr>
            <p:cNvPr id="338" name="Google Shape;338;p33"/>
            <p:cNvSpPr/>
            <p:nvPr/>
          </p:nvSpPr>
          <p:spPr>
            <a:xfrm>
              <a:off x="2942335" y="1403508"/>
              <a:ext cx="3260177" cy="2951424"/>
            </a:xfrm>
            <a:custGeom>
              <a:rect b="b" l="l" r="r" t="t"/>
              <a:pathLst>
                <a:path extrusionOk="0" fill="none" h="110810" w="122402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3"/>
            <p:cNvSpPr/>
            <p:nvPr/>
          </p:nvSpPr>
          <p:spPr>
            <a:xfrm>
              <a:off x="2820853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3"/>
            <p:cNvSpPr/>
            <p:nvPr/>
          </p:nvSpPr>
          <p:spPr>
            <a:xfrm>
              <a:off x="2820853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3"/>
            <p:cNvSpPr/>
            <p:nvPr/>
          </p:nvSpPr>
          <p:spPr>
            <a:xfrm>
              <a:off x="2820853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3"/>
            <p:cNvSpPr/>
            <p:nvPr/>
          </p:nvSpPr>
          <p:spPr>
            <a:xfrm>
              <a:off x="5818676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3"/>
            <p:cNvSpPr/>
            <p:nvPr/>
          </p:nvSpPr>
          <p:spPr>
            <a:xfrm>
              <a:off x="5606954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6195721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3623872" y="1880914"/>
              <a:ext cx="1896226" cy="1175030"/>
            </a:xfrm>
            <a:custGeom>
              <a:rect b="b" l="l" r="r" t="t"/>
              <a:pathLst>
                <a:path extrusionOk="0" h="44116" w="71193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3"/>
            <p:cNvSpPr/>
            <p:nvPr/>
          </p:nvSpPr>
          <p:spPr>
            <a:xfrm>
              <a:off x="3331180" y="3017962"/>
              <a:ext cx="2481610" cy="455512"/>
            </a:xfrm>
            <a:custGeom>
              <a:rect b="b" l="l" r="r" t="t"/>
              <a:pathLst>
                <a:path extrusionOk="0" h="17102" w="93171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3"/>
            <p:cNvSpPr/>
            <p:nvPr/>
          </p:nvSpPr>
          <p:spPr>
            <a:xfrm>
              <a:off x="3338771" y="3444761"/>
              <a:ext cx="2467280" cy="81849"/>
            </a:xfrm>
            <a:custGeom>
              <a:rect b="b" l="l" r="r" t="t"/>
              <a:pathLst>
                <a:path extrusionOk="0" h="3073" w="92633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3"/>
            <p:cNvSpPr/>
            <p:nvPr/>
          </p:nvSpPr>
          <p:spPr>
            <a:xfrm>
              <a:off x="3747032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3"/>
            <p:cNvSpPr/>
            <p:nvPr/>
          </p:nvSpPr>
          <p:spPr>
            <a:xfrm>
              <a:off x="3858366" y="3062656"/>
              <a:ext cx="102944" cy="22800"/>
            </a:xfrm>
            <a:custGeom>
              <a:rect b="b" l="l" r="r" t="t"/>
              <a:pathLst>
                <a:path extrusionOk="0" h="856" w="3865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3"/>
            <p:cNvSpPr/>
            <p:nvPr/>
          </p:nvSpPr>
          <p:spPr>
            <a:xfrm>
              <a:off x="3968875" y="3062656"/>
              <a:ext cx="102092" cy="22800"/>
            </a:xfrm>
            <a:custGeom>
              <a:rect b="b" l="l" r="r" t="t"/>
              <a:pathLst>
                <a:path extrusionOk="0" h="856" w="3833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3"/>
            <p:cNvSpPr/>
            <p:nvPr/>
          </p:nvSpPr>
          <p:spPr>
            <a:xfrm>
              <a:off x="4080209" y="3062656"/>
              <a:ext cx="100414" cy="22800"/>
            </a:xfrm>
            <a:custGeom>
              <a:rect b="b" l="l" r="r" t="t"/>
              <a:pathLst>
                <a:path extrusionOk="0" h="856" w="377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3"/>
            <p:cNvSpPr/>
            <p:nvPr/>
          </p:nvSpPr>
          <p:spPr>
            <a:xfrm>
              <a:off x="4191570" y="3062656"/>
              <a:ext cx="98709" cy="22800"/>
            </a:xfrm>
            <a:custGeom>
              <a:rect b="b" l="l" r="r" t="t"/>
              <a:pathLst>
                <a:path extrusionOk="0" h="856" w="3706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3"/>
            <p:cNvSpPr/>
            <p:nvPr/>
          </p:nvSpPr>
          <p:spPr>
            <a:xfrm>
              <a:off x="4302052" y="3062656"/>
              <a:ext cx="97031" cy="22800"/>
            </a:xfrm>
            <a:custGeom>
              <a:rect b="b" l="l" r="r" t="t"/>
              <a:pathLst>
                <a:path extrusionOk="0" h="856" w="3643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3"/>
            <p:cNvSpPr/>
            <p:nvPr/>
          </p:nvSpPr>
          <p:spPr>
            <a:xfrm>
              <a:off x="4413413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3"/>
            <p:cNvSpPr/>
            <p:nvPr/>
          </p:nvSpPr>
          <p:spPr>
            <a:xfrm>
              <a:off x="4524747" y="3062656"/>
              <a:ext cx="95327" cy="22800"/>
            </a:xfrm>
            <a:custGeom>
              <a:rect b="b" l="l" r="r" t="t"/>
              <a:pathLst>
                <a:path extrusionOk="0" h="856" w="3579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3"/>
            <p:cNvSpPr/>
            <p:nvPr/>
          </p:nvSpPr>
          <p:spPr>
            <a:xfrm>
              <a:off x="4634404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3"/>
            <p:cNvSpPr/>
            <p:nvPr/>
          </p:nvSpPr>
          <p:spPr>
            <a:xfrm>
              <a:off x="4744060" y="3062656"/>
              <a:ext cx="97857" cy="22800"/>
            </a:xfrm>
            <a:custGeom>
              <a:rect b="b" l="l" r="r" t="t"/>
              <a:pathLst>
                <a:path extrusionOk="0" h="856" w="3674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3"/>
            <p:cNvSpPr/>
            <p:nvPr/>
          </p:nvSpPr>
          <p:spPr>
            <a:xfrm>
              <a:off x="4853716" y="3062656"/>
              <a:ext cx="99562" cy="22800"/>
            </a:xfrm>
            <a:custGeom>
              <a:rect b="b" l="l" r="r" t="t"/>
              <a:pathLst>
                <a:path extrusionOk="0" h="856" w="3738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3"/>
            <p:cNvSpPr/>
            <p:nvPr/>
          </p:nvSpPr>
          <p:spPr>
            <a:xfrm>
              <a:off x="4963373" y="3062656"/>
              <a:ext cx="100387" cy="22800"/>
            </a:xfrm>
            <a:custGeom>
              <a:rect b="b" l="l" r="r" t="t"/>
              <a:pathLst>
                <a:path extrusionOk="0" h="856" w="3769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3"/>
            <p:cNvSpPr/>
            <p:nvPr/>
          </p:nvSpPr>
          <p:spPr>
            <a:xfrm>
              <a:off x="5073029" y="3062656"/>
              <a:ext cx="101240" cy="22800"/>
            </a:xfrm>
            <a:custGeom>
              <a:rect b="b" l="l" r="r" t="t"/>
              <a:pathLst>
                <a:path extrusionOk="0" h="856" w="3801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3"/>
            <p:cNvSpPr/>
            <p:nvPr/>
          </p:nvSpPr>
          <p:spPr>
            <a:xfrm>
              <a:off x="5182685" y="3062656"/>
              <a:ext cx="102918" cy="22800"/>
            </a:xfrm>
            <a:custGeom>
              <a:rect b="b" l="l" r="r" t="t"/>
              <a:pathLst>
                <a:path extrusionOk="0" h="856" w="3864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3"/>
            <p:cNvSpPr/>
            <p:nvPr/>
          </p:nvSpPr>
          <p:spPr>
            <a:xfrm>
              <a:off x="5292341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3"/>
            <p:cNvSpPr/>
            <p:nvPr/>
          </p:nvSpPr>
          <p:spPr>
            <a:xfrm>
              <a:off x="3724259" y="3091342"/>
              <a:ext cx="80997" cy="35451"/>
            </a:xfrm>
            <a:custGeom>
              <a:rect b="b" l="l" r="r" t="t"/>
              <a:pathLst>
                <a:path extrusionOk="0" h="1331" w="3041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3"/>
            <p:cNvSpPr/>
            <p:nvPr/>
          </p:nvSpPr>
          <p:spPr>
            <a:xfrm>
              <a:off x="3806082" y="309134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3"/>
            <p:cNvSpPr/>
            <p:nvPr/>
          </p:nvSpPr>
          <p:spPr>
            <a:xfrm>
              <a:off x="3919946" y="309134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3"/>
            <p:cNvSpPr/>
            <p:nvPr/>
          </p:nvSpPr>
          <p:spPr>
            <a:xfrm>
              <a:off x="4033811" y="3091342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3"/>
            <p:cNvSpPr/>
            <p:nvPr/>
          </p:nvSpPr>
          <p:spPr>
            <a:xfrm>
              <a:off x="4148528" y="3091342"/>
              <a:ext cx="103797" cy="35451"/>
            </a:xfrm>
            <a:custGeom>
              <a:rect b="b" l="l" r="r" t="t"/>
              <a:pathLst>
                <a:path extrusionOk="0" h="1331" w="3897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3"/>
            <p:cNvSpPr/>
            <p:nvPr/>
          </p:nvSpPr>
          <p:spPr>
            <a:xfrm>
              <a:off x="4262419" y="3091342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3"/>
            <p:cNvSpPr/>
            <p:nvPr/>
          </p:nvSpPr>
          <p:spPr>
            <a:xfrm>
              <a:off x="4376284" y="3091342"/>
              <a:ext cx="99562" cy="35451"/>
            </a:xfrm>
            <a:custGeom>
              <a:rect b="b" l="l" r="r" t="t"/>
              <a:pathLst>
                <a:path extrusionOk="0" h="1331" w="3738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3"/>
            <p:cNvSpPr/>
            <p:nvPr/>
          </p:nvSpPr>
          <p:spPr>
            <a:xfrm>
              <a:off x="4490148" y="3091342"/>
              <a:ext cx="97884" cy="35451"/>
            </a:xfrm>
            <a:custGeom>
              <a:rect b="b" l="l" r="r" t="t"/>
              <a:pathLst>
                <a:path extrusionOk="0" h="1331" w="3675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3"/>
            <p:cNvSpPr/>
            <p:nvPr/>
          </p:nvSpPr>
          <p:spPr>
            <a:xfrm>
              <a:off x="4604040" y="3091342"/>
              <a:ext cx="98709" cy="35451"/>
            </a:xfrm>
            <a:custGeom>
              <a:rect b="b" l="l" r="r" t="t"/>
              <a:pathLst>
                <a:path extrusionOk="0" h="1331" w="3706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3"/>
            <p:cNvSpPr/>
            <p:nvPr/>
          </p:nvSpPr>
          <p:spPr>
            <a:xfrm>
              <a:off x="4716226" y="3091342"/>
              <a:ext cx="100387" cy="35451"/>
            </a:xfrm>
            <a:custGeom>
              <a:rect b="b" l="l" r="r" t="t"/>
              <a:pathLst>
                <a:path extrusionOk="0" h="1331" w="3769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3"/>
            <p:cNvSpPr/>
            <p:nvPr/>
          </p:nvSpPr>
          <p:spPr>
            <a:xfrm>
              <a:off x="4827561" y="3091342"/>
              <a:ext cx="102944" cy="35451"/>
            </a:xfrm>
            <a:custGeom>
              <a:rect b="b" l="l" r="r" t="t"/>
              <a:pathLst>
                <a:path extrusionOk="0" h="1331" w="3865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3"/>
            <p:cNvSpPr/>
            <p:nvPr/>
          </p:nvSpPr>
          <p:spPr>
            <a:xfrm>
              <a:off x="4939747" y="3091342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3"/>
            <p:cNvSpPr/>
            <p:nvPr/>
          </p:nvSpPr>
          <p:spPr>
            <a:xfrm>
              <a:off x="5051082" y="309134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3"/>
            <p:cNvSpPr/>
            <p:nvPr/>
          </p:nvSpPr>
          <p:spPr>
            <a:xfrm>
              <a:off x="5163268" y="3091342"/>
              <a:ext cx="256468" cy="35451"/>
            </a:xfrm>
            <a:custGeom>
              <a:rect b="b" l="l" r="r" t="t"/>
              <a:pathLst>
                <a:path extrusionOk="0" h="1331" w="9629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3"/>
            <p:cNvSpPr/>
            <p:nvPr/>
          </p:nvSpPr>
          <p:spPr>
            <a:xfrm>
              <a:off x="3701486" y="3132679"/>
              <a:ext cx="148490" cy="35451"/>
            </a:xfrm>
            <a:custGeom>
              <a:rect b="b" l="l" r="r" t="t"/>
              <a:pathLst>
                <a:path extrusionOk="0" h="1331" w="5575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3"/>
            <p:cNvSpPr/>
            <p:nvPr/>
          </p:nvSpPr>
          <p:spPr>
            <a:xfrm>
              <a:off x="3852480" y="3132679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3"/>
            <p:cNvSpPr/>
            <p:nvPr/>
          </p:nvSpPr>
          <p:spPr>
            <a:xfrm>
              <a:off x="3969727" y="3132679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3"/>
            <p:cNvSpPr/>
            <p:nvPr/>
          </p:nvSpPr>
          <p:spPr>
            <a:xfrm>
              <a:off x="408697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3"/>
            <p:cNvSpPr/>
            <p:nvPr/>
          </p:nvSpPr>
          <p:spPr>
            <a:xfrm>
              <a:off x="4204222" y="3132679"/>
              <a:ext cx="105448" cy="35451"/>
            </a:xfrm>
            <a:custGeom>
              <a:rect b="b" l="l" r="r" t="t"/>
              <a:pathLst>
                <a:path extrusionOk="0" h="1331" w="3959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3"/>
            <p:cNvSpPr/>
            <p:nvPr/>
          </p:nvSpPr>
          <p:spPr>
            <a:xfrm>
              <a:off x="4320617" y="3132679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3"/>
            <p:cNvSpPr/>
            <p:nvPr/>
          </p:nvSpPr>
          <p:spPr>
            <a:xfrm>
              <a:off x="4437864" y="313267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3"/>
            <p:cNvSpPr/>
            <p:nvPr/>
          </p:nvSpPr>
          <p:spPr>
            <a:xfrm>
              <a:off x="4555111" y="3132679"/>
              <a:ext cx="100414" cy="35451"/>
            </a:xfrm>
            <a:custGeom>
              <a:rect b="b" l="l" r="r" t="t"/>
              <a:pathLst>
                <a:path extrusionOk="0" h="1331" w="377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3"/>
            <p:cNvSpPr/>
            <p:nvPr/>
          </p:nvSpPr>
          <p:spPr>
            <a:xfrm>
              <a:off x="4670681" y="3132679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3"/>
            <p:cNvSpPr/>
            <p:nvPr/>
          </p:nvSpPr>
          <p:spPr>
            <a:xfrm>
              <a:off x="4785397" y="3132679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3"/>
            <p:cNvSpPr/>
            <p:nvPr/>
          </p:nvSpPr>
          <p:spPr>
            <a:xfrm>
              <a:off x="490011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3"/>
            <p:cNvSpPr/>
            <p:nvPr/>
          </p:nvSpPr>
          <p:spPr>
            <a:xfrm>
              <a:off x="5015657" y="3132679"/>
              <a:ext cx="108857" cy="35451"/>
            </a:xfrm>
            <a:custGeom>
              <a:rect b="b" l="l" r="r" t="t"/>
              <a:pathLst>
                <a:path extrusionOk="0" h="1331" w="4087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3"/>
            <p:cNvSpPr/>
            <p:nvPr/>
          </p:nvSpPr>
          <p:spPr>
            <a:xfrm>
              <a:off x="5130374" y="3132679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3"/>
            <p:cNvSpPr/>
            <p:nvPr/>
          </p:nvSpPr>
          <p:spPr>
            <a:xfrm>
              <a:off x="5245091" y="3132679"/>
              <a:ext cx="197419" cy="35451"/>
            </a:xfrm>
            <a:custGeom>
              <a:rect b="b" l="l" r="r" t="t"/>
              <a:pathLst>
                <a:path extrusionOk="0" h="1331" w="7412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3"/>
            <p:cNvSpPr/>
            <p:nvPr/>
          </p:nvSpPr>
          <p:spPr>
            <a:xfrm>
              <a:off x="3678713" y="3174017"/>
              <a:ext cx="185593" cy="35451"/>
            </a:xfrm>
            <a:custGeom>
              <a:rect b="b" l="l" r="r" t="t"/>
              <a:pathLst>
                <a:path extrusionOk="0" h="1331" w="6968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3"/>
            <p:cNvSpPr/>
            <p:nvPr/>
          </p:nvSpPr>
          <p:spPr>
            <a:xfrm>
              <a:off x="3867662" y="3174017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3"/>
            <p:cNvSpPr/>
            <p:nvPr/>
          </p:nvSpPr>
          <p:spPr>
            <a:xfrm>
              <a:off x="3988265" y="3174017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3"/>
            <p:cNvSpPr/>
            <p:nvPr/>
          </p:nvSpPr>
          <p:spPr>
            <a:xfrm>
              <a:off x="4108043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3"/>
            <p:cNvSpPr/>
            <p:nvPr/>
          </p:nvSpPr>
          <p:spPr>
            <a:xfrm>
              <a:off x="4228673" y="3174017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3"/>
            <p:cNvSpPr/>
            <p:nvPr/>
          </p:nvSpPr>
          <p:spPr>
            <a:xfrm>
              <a:off x="4348450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3"/>
            <p:cNvSpPr/>
            <p:nvPr/>
          </p:nvSpPr>
          <p:spPr>
            <a:xfrm>
              <a:off x="4469080" y="3174017"/>
              <a:ext cx="102918" cy="35451"/>
            </a:xfrm>
            <a:custGeom>
              <a:rect b="b" l="l" r="r" t="t"/>
              <a:pathLst>
                <a:path extrusionOk="0" h="1331" w="3864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3"/>
            <p:cNvSpPr/>
            <p:nvPr/>
          </p:nvSpPr>
          <p:spPr>
            <a:xfrm>
              <a:off x="4588858" y="3174017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3"/>
            <p:cNvSpPr/>
            <p:nvPr/>
          </p:nvSpPr>
          <p:spPr>
            <a:xfrm>
              <a:off x="4706931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3"/>
            <p:cNvSpPr/>
            <p:nvPr/>
          </p:nvSpPr>
          <p:spPr>
            <a:xfrm>
              <a:off x="4825030" y="3174017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3"/>
            <p:cNvSpPr/>
            <p:nvPr/>
          </p:nvSpPr>
          <p:spPr>
            <a:xfrm>
              <a:off x="4943130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3"/>
            <p:cNvSpPr/>
            <p:nvPr/>
          </p:nvSpPr>
          <p:spPr>
            <a:xfrm>
              <a:off x="5060377" y="3174017"/>
              <a:ext cx="113039" cy="35451"/>
            </a:xfrm>
            <a:custGeom>
              <a:rect b="b" l="l" r="r" t="t"/>
              <a:pathLst>
                <a:path extrusionOk="0" h="1331" w="4244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3"/>
            <p:cNvSpPr/>
            <p:nvPr/>
          </p:nvSpPr>
          <p:spPr>
            <a:xfrm>
              <a:off x="5178450" y="3174017"/>
              <a:ext cx="286832" cy="35451"/>
            </a:xfrm>
            <a:custGeom>
              <a:rect b="b" l="l" r="r" t="t"/>
              <a:pathLst>
                <a:path extrusionOk="0" h="1331" w="10769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3"/>
            <p:cNvSpPr/>
            <p:nvPr/>
          </p:nvSpPr>
          <p:spPr>
            <a:xfrm>
              <a:off x="3655940" y="3214502"/>
              <a:ext cx="293571" cy="35451"/>
            </a:xfrm>
            <a:custGeom>
              <a:rect b="b" l="l" r="r" t="t"/>
              <a:pathLst>
                <a:path extrusionOk="0" h="1331" w="11022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3"/>
            <p:cNvSpPr/>
            <p:nvPr/>
          </p:nvSpPr>
          <p:spPr>
            <a:xfrm>
              <a:off x="3955371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3"/>
            <p:cNvSpPr/>
            <p:nvPr/>
          </p:nvSpPr>
          <p:spPr>
            <a:xfrm>
              <a:off x="4078531" y="3214502"/>
              <a:ext cx="113066" cy="35451"/>
            </a:xfrm>
            <a:custGeom>
              <a:rect b="b" l="l" r="r" t="t"/>
              <a:pathLst>
                <a:path extrusionOk="0" h="1331" w="4245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3"/>
            <p:cNvSpPr/>
            <p:nvPr/>
          </p:nvSpPr>
          <p:spPr>
            <a:xfrm>
              <a:off x="4201691" y="321450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3"/>
            <p:cNvSpPr/>
            <p:nvPr/>
          </p:nvSpPr>
          <p:spPr>
            <a:xfrm>
              <a:off x="4325677" y="321450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3"/>
            <p:cNvSpPr/>
            <p:nvPr/>
          </p:nvSpPr>
          <p:spPr>
            <a:xfrm>
              <a:off x="4448838" y="3214502"/>
              <a:ext cx="106300" cy="35451"/>
            </a:xfrm>
            <a:custGeom>
              <a:rect b="b" l="l" r="r" t="t"/>
              <a:pathLst>
                <a:path extrusionOk="0" h="1331" w="3991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3"/>
            <p:cNvSpPr/>
            <p:nvPr/>
          </p:nvSpPr>
          <p:spPr>
            <a:xfrm>
              <a:off x="4571971" y="3214502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3"/>
            <p:cNvSpPr/>
            <p:nvPr/>
          </p:nvSpPr>
          <p:spPr>
            <a:xfrm>
              <a:off x="4692601" y="321450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3"/>
            <p:cNvSpPr/>
            <p:nvPr/>
          </p:nvSpPr>
          <p:spPr>
            <a:xfrm>
              <a:off x="4814057" y="3214502"/>
              <a:ext cx="110535" cy="35451"/>
            </a:xfrm>
            <a:custGeom>
              <a:rect b="b" l="l" r="r" t="t"/>
              <a:pathLst>
                <a:path extrusionOk="0" h="1331" w="415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3"/>
            <p:cNvSpPr/>
            <p:nvPr/>
          </p:nvSpPr>
          <p:spPr>
            <a:xfrm>
              <a:off x="4935539" y="3214502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3"/>
            <p:cNvSpPr/>
            <p:nvPr/>
          </p:nvSpPr>
          <p:spPr>
            <a:xfrm>
              <a:off x="5056142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3"/>
            <p:cNvSpPr/>
            <p:nvPr/>
          </p:nvSpPr>
          <p:spPr>
            <a:xfrm>
              <a:off x="5177624" y="3214502"/>
              <a:ext cx="310431" cy="35451"/>
            </a:xfrm>
            <a:custGeom>
              <a:rect b="b" l="l" r="r" t="t"/>
              <a:pathLst>
                <a:path extrusionOk="0" h="1331" w="11655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3"/>
            <p:cNvSpPr/>
            <p:nvPr/>
          </p:nvSpPr>
          <p:spPr>
            <a:xfrm>
              <a:off x="3633167" y="3255839"/>
              <a:ext cx="123160" cy="35451"/>
            </a:xfrm>
            <a:custGeom>
              <a:rect b="b" l="l" r="r" t="t"/>
              <a:pathLst>
                <a:path extrusionOk="0" h="1331" w="4624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3"/>
            <p:cNvSpPr/>
            <p:nvPr/>
          </p:nvSpPr>
          <p:spPr>
            <a:xfrm>
              <a:off x="3759684" y="3255839"/>
              <a:ext cx="120657" cy="35451"/>
            </a:xfrm>
            <a:custGeom>
              <a:rect b="b" l="l" r="r" t="t"/>
              <a:pathLst>
                <a:path extrusionOk="0" h="1331" w="453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3"/>
            <p:cNvSpPr/>
            <p:nvPr/>
          </p:nvSpPr>
          <p:spPr>
            <a:xfrm>
              <a:off x="3886200" y="3255839"/>
              <a:ext cx="118126" cy="35451"/>
            </a:xfrm>
            <a:custGeom>
              <a:rect b="b" l="l" r="r" t="t"/>
              <a:pathLst>
                <a:path extrusionOk="0" h="1331" w="4435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3"/>
            <p:cNvSpPr/>
            <p:nvPr/>
          </p:nvSpPr>
          <p:spPr>
            <a:xfrm>
              <a:off x="4012743" y="3255839"/>
              <a:ext cx="186445" cy="35451"/>
            </a:xfrm>
            <a:custGeom>
              <a:rect b="b" l="l" r="r" t="t"/>
              <a:pathLst>
                <a:path extrusionOk="0" h="1331" w="700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3"/>
            <p:cNvSpPr/>
            <p:nvPr/>
          </p:nvSpPr>
          <p:spPr>
            <a:xfrm>
              <a:off x="4210960" y="3255839"/>
              <a:ext cx="722075" cy="35451"/>
            </a:xfrm>
            <a:custGeom>
              <a:rect b="b" l="l" r="r" t="t"/>
              <a:pathLst>
                <a:path extrusionOk="0" h="1331" w="2711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3"/>
            <p:cNvSpPr/>
            <p:nvPr/>
          </p:nvSpPr>
          <p:spPr>
            <a:xfrm>
              <a:off x="4944808" y="3255839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3"/>
            <p:cNvSpPr/>
            <p:nvPr/>
          </p:nvSpPr>
          <p:spPr>
            <a:xfrm>
              <a:off x="5068794" y="3255839"/>
              <a:ext cx="117274" cy="35451"/>
            </a:xfrm>
            <a:custGeom>
              <a:rect b="b" l="l" r="r" t="t"/>
              <a:pathLst>
                <a:path extrusionOk="0" h="1331" w="4403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3"/>
            <p:cNvSpPr/>
            <p:nvPr/>
          </p:nvSpPr>
          <p:spPr>
            <a:xfrm>
              <a:off x="5192806" y="325583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3"/>
            <p:cNvSpPr/>
            <p:nvPr/>
          </p:nvSpPr>
          <p:spPr>
            <a:xfrm>
              <a:off x="5405354" y="3255839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3"/>
            <p:cNvSpPr/>
            <p:nvPr/>
          </p:nvSpPr>
          <p:spPr>
            <a:xfrm>
              <a:off x="5299080" y="3255839"/>
              <a:ext cx="93649" cy="15209"/>
            </a:xfrm>
            <a:custGeom>
              <a:rect b="b" l="l" r="r" t="t"/>
              <a:pathLst>
                <a:path extrusionOk="0" h="571" w="3516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3"/>
            <p:cNvSpPr/>
            <p:nvPr/>
          </p:nvSpPr>
          <p:spPr>
            <a:xfrm>
              <a:off x="5308349" y="3276082"/>
              <a:ext cx="94501" cy="15209"/>
            </a:xfrm>
            <a:custGeom>
              <a:rect b="b" l="l" r="r" t="t"/>
              <a:pathLst>
                <a:path extrusionOk="0" h="571" w="3548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3"/>
            <p:cNvSpPr/>
            <p:nvPr/>
          </p:nvSpPr>
          <p:spPr>
            <a:xfrm>
              <a:off x="4178066" y="3308976"/>
              <a:ext cx="787863" cy="134986"/>
            </a:xfrm>
            <a:custGeom>
              <a:rect b="b" l="l" r="r" t="t"/>
              <a:pathLst>
                <a:path extrusionOk="0" h="5068" w="2958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3"/>
            <p:cNvSpPr/>
            <p:nvPr/>
          </p:nvSpPr>
          <p:spPr>
            <a:xfrm>
              <a:off x="3669418" y="1926460"/>
              <a:ext cx="1805134" cy="1008028"/>
            </a:xfrm>
            <a:custGeom>
              <a:rect b="b" l="l" r="r" t="t"/>
              <a:pathLst>
                <a:path extrusionOk="0" h="37846" w="67773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9" name="Google Shape;429;p33"/>
          <p:cNvSpPr/>
          <p:nvPr/>
        </p:nvSpPr>
        <p:spPr>
          <a:xfrm>
            <a:off x="524120" y="1404556"/>
            <a:ext cx="611566" cy="539305"/>
          </a:xfrm>
          <a:custGeom>
            <a:rect b="b" l="l" r="r" t="t"/>
            <a:pathLst>
              <a:path extrusionOk="0" h="20248" w="22961">
                <a:moveTo>
                  <a:pt x="11461" y="1"/>
                </a:moveTo>
                <a:cubicBezTo>
                  <a:pt x="10173" y="1"/>
                  <a:pt x="8864" y="247"/>
                  <a:pt x="7601" y="766"/>
                </a:cubicBezTo>
                <a:cubicBezTo>
                  <a:pt x="2439" y="2919"/>
                  <a:pt x="0" y="8842"/>
                  <a:pt x="2122" y="14004"/>
                </a:cubicBezTo>
                <a:cubicBezTo>
                  <a:pt x="3749" y="17902"/>
                  <a:pt x="7525" y="20248"/>
                  <a:pt x="11500" y="20248"/>
                </a:cubicBezTo>
                <a:cubicBezTo>
                  <a:pt x="12788" y="20248"/>
                  <a:pt x="14097" y="20001"/>
                  <a:pt x="15360" y="19482"/>
                </a:cubicBezTo>
                <a:cubicBezTo>
                  <a:pt x="20522" y="17329"/>
                  <a:pt x="22960" y="11407"/>
                  <a:pt x="20839" y="6245"/>
                </a:cubicBezTo>
                <a:cubicBezTo>
                  <a:pt x="19212" y="2346"/>
                  <a:pt x="15436" y="1"/>
                  <a:pt x="1146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9FCFB"/>
                </a:solidFill>
              </a:rPr>
              <a:t>1</a:t>
            </a:r>
            <a:endParaRPr b="1">
              <a:solidFill>
                <a:srgbClr val="F9FCFB"/>
              </a:solidFill>
            </a:endParaRPr>
          </a:p>
        </p:txBody>
      </p:sp>
      <p:sp>
        <p:nvSpPr>
          <p:cNvPr id="430" name="Google Shape;430;p33"/>
          <p:cNvSpPr/>
          <p:nvPr/>
        </p:nvSpPr>
        <p:spPr>
          <a:xfrm>
            <a:off x="8056685" y="1373265"/>
            <a:ext cx="539039" cy="539012"/>
          </a:xfrm>
          <a:custGeom>
            <a:rect b="b" l="l" r="r" t="t"/>
            <a:pathLst>
              <a:path extrusionOk="0" h="20237" w="20238">
                <a:moveTo>
                  <a:pt x="10135" y="0"/>
                </a:moveTo>
                <a:cubicBezTo>
                  <a:pt x="4530" y="0"/>
                  <a:pt x="1" y="4529"/>
                  <a:pt x="1" y="10103"/>
                </a:cubicBezTo>
                <a:cubicBezTo>
                  <a:pt x="1" y="15708"/>
                  <a:pt x="4530" y="20237"/>
                  <a:pt x="10135" y="20237"/>
                </a:cubicBezTo>
                <a:cubicBezTo>
                  <a:pt x="15709" y="20237"/>
                  <a:pt x="20237" y="15708"/>
                  <a:pt x="20237" y="10103"/>
                </a:cubicBezTo>
                <a:cubicBezTo>
                  <a:pt x="20237" y="4529"/>
                  <a:pt x="15709" y="0"/>
                  <a:pt x="10135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2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31" name="Google Shape;431;p33"/>
          <p:cNvSpPr/>
          <p:nvPr/>
        </p:nvSpPr>
        <p:spPr>
          <a:xfrm>
            <a:off x="524120" y="2455719"/>
            <a:ext cx="611566" cy="539305"/>
          </a:xfrm>
          <a:custGeom>
            <a:rect b="b" l="l" r="r" t="t"/>
            <a:pathLst>
              <a:path extrusionOk="0" h="20248" w="22961">
                <a:moveTo>
                  <a:pt x="11461" y="1"/>
                </a:moveTo>
                <a:cubicBezTo>
                  <a:pt x="10173" y="1"/>
                  <a:pt x="8864" y="247"/>
                  <a:pt x="7601" y="766"/>
                </a:cubicBezTo>
                <a:cubicBezTo>
                  <a:pt x="2439" y="2919"/>
                  <a:pt x="0" y="8842"/>
                  <a:pt x="2122" y="14004"/>
                </a:cubicBezTo>
                <a:cubicBezTo>
                  <a:pt x="3749" y="17902"/>
                  <a:pt x="7525" y="20248"/>
                  <a:pt x="11500" y="20248"/>
                </a:cubicBezTo>
                <a:cubicBezTo>
                  <a:pt x="12788" y="20248"/>
                  <a:pt x="14097" y="20001"/>
                  <a:pt x="15360" y="19482"/>
                </a:cubicBezTo>
                <a:cubicBezTo>
                  <a:pt x="20522" y="17329"/>
                  <a:pt x="22960" y="11407"/>
                  <a:pt x="20839" y="6245"/>
                </a:cubicBezTo>
                <a:cubicBezTo>
                  <a:pt x="19212" y="2346"/>
                  <a:pt x="15436" y="1"/>
                  <a:pt x="1146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9FCFB"/>
                </a:solidFill>
              </a:rPr>
              <a:t>3</a:t>
            </a:r>
            <a:endParaRPr b="1">
              <a:solidFill>
                <a:srgbClr val="F9FCFB"/>
              </a:solidFill>
            </a:endParaRPr>
          </a:p>
        </p:txBody>
      </p:sp>
      <p:sp>
        <p:nvSpPr>
          <p:cNvPr id="432" name="Google Shape;432;p33"/>
          <p:cNvSpPr/>
          <p:nvPr/>
        </p:nvSpPr>
        <p:spPr>
          <a:xfrm>
            <a:off x="8056685" y="2504765"/>
            <a:ext cx="539039" cy="539012"/>
          </a:xfrm>
          <a:custGeom>
            <a:rect b="b" l="l" r="r" t="t"/>
            <a:pathLst>
              <a:path extrusionOk="0" h="20237" w="20238">
                <a:moveTo>
                  <a:pt x="10135" y="0"/>
                </a:moveTo>
                <a:cubicBezTo>
                  <a:pt x="4530" y="0"/>
                  <a:pt x="1" y="4529"/>
                  <a:pt x="1" y="10103"/>
                </a:cubicBezTo>
                <a:cubicBezTo>
                  <a:pt x="1" y="15708"/>
                  <a:pt x="4530" y="20237"/>
                  <a:pt x="10135" y="20237"/>
                </a:cubicBezTo>
                <a:cubicBezTo>
                  <a:pt x="15709" y="20237"/>
                  <a:pt x="20237" y="15708"/>
                  <a:pt x="20237" y="10103"/>
                </a:cubicBezTo>
                <a:cubicBezTo>
                  <a:pt x="20237" y="4529"/>
                  <a:pt x="15709" y="0"/>
                  <a:pt x="10135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4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33" name="Google Shape;433;p33"/>
          <p:cNvSpPr/>
          <p:nvPr/>
        </p:nvSpPr>
        <p:spPr>
          <a:xfrm>
            <a:off x="8056685" y="3693015"/>
            <a:ext cx="539039" cy="539012"/>
          </a:xfrm>
          <a:custGeom>
            <a:rect b="b" l="l" r="r" t="t"/>
            <a:pathLst>
              <a:path extrusionOk="0" h="20237" w="20238">
                <a:moveTo>
                  <a:pt x="10135" y="0"/>
                </a:moveTo>
                <a:cubicBezTo>
                  <a:pt x="4530" y="0"/>
                  <a:pt x="1" y="4529"/>
                  <a:pt x="1" y="10103"/>
                </a:cubicBezTo>
                <a:cubicBezTo>
                  <a:pt x="1" y="15708"/>
                  <a:pt x="4530" y="20237"/>
                  <a:pt x="10135" y="20237"/>
                </a:cubicBezTo>
                <a:cubicBezTo>
                  <a:pt x="15709" y="20237"/>
                  <a:pt x="20237" y="15708"/>
                  <a:pt x="20237" y="10103"/>
                </a:cubicBezTo>
                <a:cubicBezTo>
                  <a:pt x="20237" y="4529"/>
                  <a:pt x="15709" y="0"/>
                  <a:pt x="10135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34" name="Google Shape;434;p33"/>
          <p:cNvSpPr/>
          <p:nvPr/>
        </p:nvSpPr>
        <p:spPr>
          <a:xfrm>
            <a:off x="524120" y="3692869"/>
            <a:ext cx="611566" cy="539305"/>
          </a:xfrm>
          <a:custGeom>
            <a:rect b="b" l="l" r="r" t="t"/>
            <a:pathLst>
              <a:path extrusionOk="0" h="20248" w="22961">
                <a:moveTo>
                  <a:pt x="11461" y="1"/>
                </a:moveTo>
                <a:cubicBezTo>
                  <a:pt x="10173" y="1"/>
                  <a:pt x="8864" y="247"/>
                  <a:pt x="7601" y="766"/>
                </a:cubicBezTo>
                <a:cubicBezTo>
                  <a:pt x="2439" y="2919"/>
                  <a:pt x="0" y="8842"/>
                  <a:pt x="2122" y="14004"/>
                </a:cubicBezTo>
                <a:cubicBezTo>
                  <a:pt x="3749" y="17902"/>
                  <a:pt x="7525" y="20248"/>
                  <a:pt x="11500" y="20248"/>
                </a:cubicBezTo>
                <a:cubicBezTo>
                  <a:pt x="12788" y="20248"/>
                  <a:pt x="14097" y="20001"/>
                  <a:pt x="15360" y="19482"/>
                </a:cubicBezTo>
                <a:cubicBezTo>
                  <a:pt x="20522" y="17329"/>
                  <a:pt x="22960" y="11407"/>
                  <a:pt x="20839" y="6245"/>
                </a:cubicBezTo>
                <a:cubicBezTo>
                  <a:pt x="19212" y="2346"/>
                  <a:pt x="15436" y="1"/>
                  <a:pt x="1146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9FCFB"/>
                </a:solidFill>
              </a:rPr>
              <a:t>5</a:t>
            </a:r>
            <a:endParaRPr b="1">
              <a:solidFill>
                <a:srgbClr val="F9FCFB"/>
              </a:solidFill>
            </a:endParaRPr>
          </a:p>
        </p:txBody>
      </p:sp>
      <p:pic>
        <p:nvPicPr>
          <p:cNvPr id="435" name="Google Shape;43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0800" y="1927825"/>
            <a:ext cx="1802952" cy="9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3" title="logo-empresa__3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9780" y="300480"/>
            <a:ext cx="525936" cy="52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3"/>
          <p:cNvSpPr/>
          <p:nvPr/>
        </p:nvSpPr>
        <p:spPr>
          <a:xfrm rot="-5400000">
            <a:off x="4403639" y="4442241"/>
            <a:ext cx="185124" cy="10450"/>
          </a:xfrm>
          <a:custGeom>
            <a:rect b="b" l="l" r="r" t="t"/>
            <a:pathLst>
              <a:path extrusionOk="0" fill="none" h="1" w="26888">
                <a:moveTo>
                  <a:pt x="1" y="1"/>
                </a:moveTo>
                <a:lnTo>
                  <a:pt x="26888" y="1"/>
                </a:lnTo>
              </a:path>
            </a:pathLst>
          </a:custGeom>
          <a:noFill/>
          <a:ln cap="flat" cmpd="sng" w="7925">
            <a:solidFill>
              <a:srgbClr val="CECEC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3"/>
          <p:cNvSpPr/>
          <p:nvPr/>
        </p:nvSpPr>
        <p:spPr>
          <a:xfrm>
            <a:off x="4270627" y="4576648"/>
            <a:ext cx="451156" cy="429024"/>
          </a:xfrm>
          <a:custGeom>
            <a:rect b="b" l="l" r="r" t="t"/>
            <a:pathLst>
              <a:path extrusionOk="0" h="20237" w="20238">
                <a:moveTo>
                  <a:pt x="10135" y="0"/>
                </a:moveTo>
                <a:cubicBezTo>
                  <a:pt x="4530" y="0"/>
                  <a:pt x="1" y="4529"/>
                  <a:pt x="1" y="10103"/>
                </a:cubicBezTo>
                <a:cubicBezTo>
                  <a:pt x="1" y="15708"/>
                  <a:pt x="4530" y="20237"/>
                  <a:pt x="10135" y="20237"/>
                </a:cubicBezTo>
                <a:cubicBezTo>
                  <a:pt x="15709" y="20237"/>
                  <a:pt x="20237" y="15708"/>
                  <a:pt x="20237" y="10103"/>
                </a:cubicBezTo>
                <a:cubicBezTo>
                  <a:pt x="20237" y="4529"/>
                  <a:pt x="15709" y="0"/>
                  <a:pt x="10135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7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39" name="Google Shape;439;p33"/>
          <p:cNvSpPr txBox="1"/>
          <p:nvPr/>
        </p:nvSpPr>
        <p:spPr>
          <a:xfrm>
            <a:off x="4721775" y="4576663"/>
            <a:ext cx="14766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Conclusió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34"/>
          <p:cNvPicPr preferRelativeResize="0"/>
          <p:nvPr/>
        </p:nvPicPr>
        <p:blipFill rotWithShape="1">
          <a:blip r:embed="rId3">
            <a:alphaModFix/>
          </a:blip>
          <a:srcRect b="130" l="0" r="0" t="130"/>
          <a:stretch/>
        </p:blipFill>
        <p:spPr>
          <a:xfrm rot="10800000">
            <a:off x="262826" y="98503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4"/>
          <p:cNvSpPr txBox="1"/>
          <p:nvPr/>
        </p:nvSpPr>
        <p:spPr>
          <a:xfrm>
            <a:off x="524150" y="1151400"/>
            <a:ext cx="3237600" cy="28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Fira Sans Medium"/>
                <a:ea typeface="Fira Sans Medium"/>
                <a:cs typeface="Fira Sans Medium"/>
                <a:sym typeface="Fira Sans Medium"/>
              </a:rPr>
              <a:t>1. Sobre Nosaltres</a:t>
            </a:r>
            <a:endParaRPr sz="3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446" name="Google Shape;44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600" y="920337"/>
            <a:ext cx="3202725" cy="32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4" title="logo-empresa__3_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69780" y="3004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5"/>
          <p:cNvSpPr txBox="1"/>
          <p:nvPr/>
        </p:nvSpPr>
        <p:spPr>
          <a:xfrm>
            <a:off x="30050" y="237750"/>
            <a:ext cx="4534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1. Sobre nosaltres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453" name="Google Shape;453;p35" title="ChatGPT Image 21 de maig del 2025, 13_17_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150" y="1115500"/>
            <a:ext cx="3189949" cy="318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8900" y="2476300"/>
            <a:ext cx="1823726" cy="104212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5"/>
          <p:cNvSpPr txBox="1"/>
          <p:nvPr/>
        </p:nvSpPr>
        <p:spPr>
          <a:xfrm>
            <a:off x="7572175" y="1300275"/>
            <a:ext cx="14019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Distribució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De la 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xarxa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456" name="Google Shape;456;p35"/>
          <p:cNvSpPr txBox="1"/>
          <p:nvPr/>
        </p:nvSpPr>
        <p:spPr>
          <a:xfrm>
            <a:off x="7801675" y="3062600"/>
            <a:ext cx="14019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Planes 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web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457" name="Google Shape;45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6222" y="876538"/>
            <a:ext cx="305999" cy="30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35" title="image-removebg-preview (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5612" y="758794"/>
            <a:ext cx="1207150" cy="54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5" title="image-removebg-preview (2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22914" y="1147248"/>
            <a:ext cx="1292232" cy="104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5" title="image-removebg-preview (2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54176" y="2811448"/>
            <a:ext cx="1292232" cy="104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5" title="image-removebg-preview (3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37188" y="1212473"/>
            <a:ext cx="1207149" cy="1073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5" title="image-removebg-preview (4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28898" y="3467598"/>
            <a:ext cx="1892126" cy="98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5" title="logo-empresa__3_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448130" y="4499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6"/>
          <p:cNvSpPr txBox="1"/>
          <p:nvPr/>
        </p:nvSpPr>
        <p:spPr>
          <a:xfrm>
            <a:off x="481175" y="1025625"/>
            <a:ext cx="3237600" cy="28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Fira Sans Medium"/>
                <a:ea typeface="Fira Sans Medium"/>
                <a:cs typeface="Fira Sans Medium"/>
                <a:sym typeface="Fira Sans Medium"/>
              </a:rPr>
              <a:t>2. Presentació</a:t>
            </a:r>
            <a:endParaRPr sz="3500"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Fira Sans Medium"/>
                <a:ea typeface="Fira Sans Medium"/>
                <a:cs typeface="Fira Sans Medium"/>
                <a:sym typeface="Fira Sans Medium"/>
              </a:rPr>
              <a:t>Del producte</a:t>
            </a:r>
            <a:endParaRPr sz="3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469" name="Google Shape;469;p36" title="ChatGPT_Image_21_de_maig_del_2025__13_23_0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0588" y="728044"/>
            <a:ext cx="1725275" cy="172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6" title="image-removebg-preview (5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3025" y="728038"/>
            <a:ext cx="5120425" cy="3687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6" title="logo-empresa__3_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63930" y="272780"/>
            <a:ext cx="525936" cy="52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6"/>
          <p:cNvPicPr preferRelativeResize="0"/>
          <p:nvPr/>
        </p:nvPicPr>
        <p:blipFill rotWithShape="1">
          <a:blip r:embed="rId6">
            <a:alphaModFix/>
          </a:blip>
          <a:srcRect b="130" l="0" r="0" t="130"/>
          <a:stretch/>
        </p:blipFill>
        <p:spPr>
          <a:xfrm rot="10800000">
            <a:off x="262826" y="98503"/>
            <a:ext cx="1716695" cy="1307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7"/>
          <p:cNvSpPr txBox="1"/>
          <p:nvPr/>
        </p:nvSpPr>
        <p:spPr>
          <a:xfrm>
            <a:off x="263675" y="259000"/>
            <a:ext cx="4690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2. Presentació del producte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478" name="Google Shape;478;p37" title="ChatGPT_Image_21_de_maig_del_2025__13_23_0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7294" y="824075"/>
            <a:ext cx="1723565" cy="1570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2809525"/>
            <a:ext cx="2658624" cy="1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457200" y="4263050"/>
            <a:ext cx="26586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Planificació de la xarxa de </a:t>
            </a:r>
            <a:endParaRPr b="1" sz="16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l’empresa</a:t>
            </a:r>
            <a:endParaRPr sz="1600">
              <a:solidFill>
                <a:srgbClr val="595959"/>
              </a:solidFill>
            </a:endParaRPr>
          </a:p>
        </p:txBody>
      </p:sp>
      <p:pic>
        <p:nvPicPr>
          <p:cNvPr id="481" name="Google Shape;48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101" y="1004025"/>
            <a:ext cx="1173363" cy="1700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51725" y="1032075"/>
            <a:ext cx="2175474" cy="815106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7"/>
          <p:cNvSpPr txBox="1"/>
          <p:nvPr/>
        </p:nvSpPr>
        <p:spPr>
          <a:xfrm>
            <a:off x="3395650" y="4127100"/>
            <a:ext cx="24339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Instal·lació de serveis adicionals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484" name="Google Shape;484;p37"/>
          <p:cNvSpPr txBox="1"/>
          <p:nvPr/>
        </p:nvSpPr>
        <p:spPr>
          <a:xfrm>
            <a:off x="6616000" y="4077700"/>
            <a:ext cx="2127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Configuració de Págines Web</a:t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485" name="Google Shape;485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57712" y="3130524"/>
            <a:ext cx="2109784" cy="107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0300" y="2812400"/>
            <a:ext cx="2309722" cy="107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04700" y="1547099"/>
            <a:ext cx="2300934" cy="107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7" title="image-removebg-preview (2)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8100029">
            <a:off x="3096256" y="2018087"/>
            <a:ext cx="1165764" cy="104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7" title="image-removebg-preview (2)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5400000">
            <a:off x="4313125" y="2177624"/>
            <a:ext cx="956325" cy="104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7" title="image-removebg-preview (2)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2381798">
            <a:off x="5109489" y="1751073"/>
            <a:ext cx="1292231" cy="104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37" title="logo-empresa__3_-removebg-preview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79905" y="42783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8"/>
          <p:cNvSpPr txBox="1"/>
          <p:nvPr/>
        </p:nvSpPr>
        <p:spPr>
          <a:xfrm>
            <a:off x="95075" y="1828650"/>
            <a:ext cx="3237600" cy="14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Fira Sans Medium"/>
                <a:ea typeface="Fira Sans Medium"/>
                <a:cs typeface="Fira Sans Medium"/>
                <a:sym typeface="Fira Sans Medium"/>
              </a:rPr>
              <a:t>3. Estructura de la xarxa</a:t>
            </a:r>
            <a:endParaRPr sz="3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497" name="Google Shape;497;p38"/>
          <p:cNvPicPr preferRelativeResize="0"/>
          <p:nvPr/>
        </p:nvPicPr>
        <p:blipFill>
          <a:blip r:embed="rId3">
            <a:alphaModFix amt="84000"/>
          </a:blip>
          <a:stretch>
            <a:fillRect/>
          </a:stretch>
        </p:blipFill>
        <p:spPr>
          <a:xfrm>
            <a:off x="3518675" y="1411175"/>
            <a:ext cx="5063386" cy="266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8" title="logo-empresa__3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5480" y="350305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9"/>
          <p:cNvSpPr txBox="1"/>
          <p:nvPr/>
        </p:nvSpPr>
        <p:spPr>
          <a:xfrm>
            <a:off x="274725" y="341875"/>
            <a:ext cx="4690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3. Estructura de la xarxa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504" name="Google Shape;504;p39"/>
          <p:cNvPicPr preferRelativeResize="0"/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35925" y="1165350"/>
            <a:ext cx="7058749" cy="32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39"/>
          <p:cNvSpPr txBox="1"/>
          <p:nvPr/>
        </p:nvSpPr>
        <p:spPr>
          <a:xfrm>
            <a:off x="688775" y="740200"/>
            <a:ext cx="17184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Mapa Lógic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506" name="Google Shape;506;p39" title="logo-empresa__3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9780" y="3004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0"/>
          <p:cNvSpPr txBox="1"/>
          <p:nvPr/>
        </p:nvSpPr>
        <p:spPr>
          <a:xfrm>
            <a:off x="427125" y="494275"/>
            <a:ext cx="4690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3. Estructura de la xarxa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512" name="Google Shape;512;p40"/>
          <p:cNvPicPr preferRelativeResize="0"/>
          <p:nvPr/>
        </p:nvPicPr>
        <p:blipFill rotWithShape="1">
          <a:blip r:embed="rId3">
            <a:alphaModFix/>
          </a:blip>
          <a:srcRect b="28617" l="0" r="0" t="0"/>
          <a:stretch/>
        </p:blipFill>
        <p:spPr>
          <a:xfrm>
            <a:off x="5326150" y="1029600"/>
            <a:ext cx="3426576" cy="33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0"/>
          <p:cNvSpPr txBox="1"/>
          <p:nvPr/>
        </p:nvSpPr>
        <p:spPr>
          <a:xfrm>
            <a:off x="1440375" y="1091000"/>
            <a:ext cx="26640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Taula d’adreçament IP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514" name="Google Shape;514;p40"/>
          <p:cNvPicPr preferRelativeResize="0"/>
          <p:nvPr/>
        </p:nvPicPr>
        <p:blipFill rotWithShape="1">
          <a:blip r:embed="rId3">
            <a:alphaModFix/>
          </a:blip>
          <a:srcRect b="0" l="0" r="0" t="71219"/>
          <a:stretch/>
        </p:blipFill>
        <p:spPr>
          <a:xfrm>
            <a:off x="655450" y="2162600"/>
            <a:ext cx="4462175" cy="1784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40" title="logo-empresa__3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9780" y="3004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1"/>
          <p:cNvSpPr txBox="1"/>
          <p:nvPr/>
        </p:nvSpPr>
        <p:spPr>
          <a:xfrm>
            <a:off x="274725" y="341875"/>
            <a:ext cx="4690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3. Estructura de la xarxa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1" name="Google Shape;521;p41"/>
          <p:cNvSpPr txBox="1"/>
          <p:nvPr/>
        </p:nvSpPr>
        <p:spPr>
          <a:xfrm>
            <a:off x="672175" y="865525"/>
            <a:ext cx="8673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DMZ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522" name="Google Shape;522;p41"/>
          <p:cNvPicPr preferRelativeResize="0"/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80300" y="1274425"/>
            <a:ext cx="3499500" cy="34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1"/>
          <p:cNvSpPr txBox="1"/>
          <p:nvPr/>
        </p:nvSpPr>
        <p:spPr>
          <a:xfrm>
            <a:off x="5637688" y="2685125"/>
            <a:ext cx="26904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- Tots els serveis de la xarxa</a:t>
            </a:r>
            <a:endParaRPr b="1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524" name="Google Shape;524;p41"/>
          <p:cNvSpPr txBox="1"/>
          <p:nvPr/>
        </p:nvSpPr>
        <p:spPr>
          <a:xfrm>
            <a:off x="5663576" y="3199025"/>
            <a:ext cx="25236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- La DMZ no te connexi</a:t>
            </a:r>
            <a:r>
              <a:rPr b="1" lang="en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ó</a:t>
            </a:r>
            <a:r>
              <a:rPr b="1" lang="en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 amb la LAN</a:t>
            </a:r>
            <a:endParaRPr b="1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525" name="Google Shape;52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7700" y="657125"/>
            <a:ext cx="2523676" cy="185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41" title="logo-empresa__3_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63605" y="195255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2"/>
          <p:cNvSpPr txBox="1"/>
          <p:nvPr/>
        </p:nvSpPr>
        <p:spPr>
          <a:xfrm>
            <a:off x="691175" y="597600"/>
            <a:ext cx="4690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3. Estructura de la xarxa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32" name="Google Shape;532;p42"/>
          <p:cNvSpPr txBox="1"/>
          <p:nvPr/>
        </p:nvSpPr>
        <p:spPr>
          <a:xfrm>
            <a:off x="1038900" y="1204100"/>
            <a:ext cx="24474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LAN Treballadors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533" name="Google Shape;533;p42"/>
          <p:cNvPicPr preferRelativeResize="0"/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113050" y="1738300"/>
            <a:ext cx="3930400" cy="27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42"/>
          <p:cNvSpPr txBox="1"/>
          <p:nvPr/>
        </p:nvSpPr>
        <p:spPr>
          <a:xfrm>
            <a:off x="5593550" y="2661175"/>
            <a:ext cx="27234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- Es troben tots els equips dividits per departaments</a:t>
            </a:r>
            <a:endParaRPr b="1" sz="15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535" name="Google Shape;535;p42"/>
          <p:cNvSpPr txBox="1"/>
          <p:nvPr/>
        </p:nvSpPr>
        <p:spPr>
          <a:xfrm>
            <a:off x="5593550" y="3371788"/>
            <a:ext cx="24087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- Podem trobar clients amb Windows i Ubuntu</a:t>
            </a:r>
            <a:endParaRPr b="1" sz="15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536" name="Google Shape;53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3550" y="913999"/>
            <a:ext cx="2947126" cy="145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42" title="logo-empresa__3_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69780" y="3004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3"/>
          <p:cNvSpPr txBox="1"/>
          <p:nvPr/>
        </p:nvSpPr>
        <p:spPr>
          <a:xfrm>
            <a:off x="464675" y="648750"/>
            <a:ext cx="4690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3. Estructura de la xarxa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43" name="Google Shape;543;p43"/>
          <p:cNvSpPr txBox="1"/>
          <p:nvPr/>
        </p:nvSpPr>
        <p:spPr>
          <a:xfrm>
            <a:off x="812400" y="1255250"/>
            <a:ext cx="24474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WLAN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544" name="Google Shape;544;p43"/>
          <p:cNvPicPr preferRelativeResize="0"/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911963" y="1761825"/>
            <a:ext cx="3795925" cy="255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3"/>
          <p:cNvSpPr txBox="1"/>
          <p:nvPr/>
        </p:nvSpPr>
        <p:spPr>
          <a:xfrm>
            <a:off x="4862300" y="2480825"/>
            <a:ext cx="2897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- Aquesta xarxa wireless permet la connexió de tot el món</a:t>
            </a:r>
            <a:endParaRPr b="1" sz="15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546" name="Google Shape;546;p43"/>
          <p:cNvSpPr txBox="1"/>
          <p:nvPr/>
        </p:nvSpPr>
        <p:spPr>
          <a:xfrm>
            <a:off x="4862300" y="3370050"/>
            <a:ext cx="28170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- No tenen permes poder entrar a les nostres pagines web</a:t>
            </a:r>
            <a:endParaRPr b="1" sz="15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547" name="Google Shape;54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9800" y="1626974"/>
            <a:ext cx="3592177" cy="4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43" title="logo-empresa__3_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69780" y="3004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4"/>
          <p:cNvSpPr txBox="1"/>
          <p:nvPr/>
        </p:nvSpPr>
        <p:spPr>
          <a:xfrm>
            <a:off x="274725" y="341875"/>
            <a:ext cx="4690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3. Estructura de la xarxa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54" name="Google Shape;554;p44"/>
          <p:cNvSpPr txBox="1"/>
          <p:nvPr/>
        </p:nvSpPr>
        <p:spPr>
          <a:xfrm>
            <a:off x="672175" y="865525"/>
            <a:ext cx="8673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VPN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555" name="Google Shape;55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425" y="1236875"/>
            <a:ext cx="7389146" cy="356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44" title="logo-empresa__3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9780" y="3004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5"/>
          <p:cNvSpPr txBox="1"/>
          <p:nvPr/>
        </p:nvSpPr>
        <p:spPr>
          <a:xfrm>
            <a:off x="603500" y="384325"/>
            <a:ext cx="4690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3. Estructura de la xarxa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62" name="Google Shape;562;p45"/>
          <p:cNvSpPr txBox="1"/>
          <p:nvPr/>
        </p:nvSpPr>
        <p:spPr>
          <a:xfrm>
            <a:off x="2543325" y="836300"/>
            <a:ext cx="47415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Publicació de webs (reenviament de ports)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563" name="Google Shape;563;p45" title="image-removebg-preview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8300" y="1392100"/>
            <a:ext cx="5510900" cy="283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45" title="logo-empresa__3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9780" y="3004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6"/>
          <p:cNvSpPr txBox="1"/>
          <p:nvPr/>
        </p:nvSpPr>
        <p:spPr>
          <a:xfrm>
            <a:off x="300175" y="831400"/>
            <a:ext cx="4690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3. Estructura de la xarxa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70" name="Google Shape;570;p46"/>
          <p:cNvSpPr txBox="1"/>
          <p:nvPr/>
        </p:nvSpPr>
        <p:spPr>
          <a:xfrm>
            <a:off x="697625" y="1355050"/>
            <a:ext cx="47415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Publicació de webs (reenviament de ports)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571" name="Google Shape;571;p46" title="image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375" y="2562775"/>
            <a:ext cx="718650" cy="651425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6"/>
          <p:cNvSpPr txBox="1"/>
          <p:nvPr/>
        </p:nvSpPr>
        <p:spPr>
          <a:xfrm>
            <a:off x="1850" y="3167175"/>
            <a:ext cx="2232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WAN</a:t>
            </a:r>
            <a:endParaRPr sz="13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IP: 172.168.26.0/24</a:t>
            </a:r>
            <a:endParaRPr sz="13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573" name="Google Shape;573;p46"/>
          <p:cNvSpPr txBox="1"/>
          <p:nvPr/>
        </p:nvSpPr>
        <p:spPr>
          <a:xfrm>
            <a:off x="2308875" y="3291550"/>
            <a:ext cx="2232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Firewall</a:t>
            </a:r>
            <a:endParaRPr sz="13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IP: 172.168.26.154/24</a:t>
            </a:r>
            <a:endParaRPr sz="13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574" name="Google Shape;574;p46" title="image-removebg-preview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9775" y="2477738"/>
            <a:ext cx="1115500" cy="922861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6"/>
          <p:cNvSpPr txBox="1"/>
          <p:nvPr/>
        </p:nvSpPr>
        <p:spPr>
          <a:xfrm>
            <a:off x="4421525" y="3369300"/>
            <a:ext cx="2232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Servidor de Redirecció</a:t>
            </a:r>
            <a:endParaRPr sz="13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IP: 192.168.1.11/24</a:t>
            </a:r>
            <a:endParaRPr sz="13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576" name="Google Shape;576;p46" title="image-removebg-preview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9350" y="1674363"/>
            <a:ext cx="1115500" cy="922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46" title="image-removebg-preview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3600" y="2927638"/>
            <a:ext cx="1115500" cy="92286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46"/>
          <p:cNvSpPr txBox="1"/>
          <p:nvPr/>
        </p:nvSpPr>
        <p:spPr>
          <a:xfrm>
            <a:off x="7626075" y="1522850"/>
            <a:ext cx="1441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Servidor Web</a:t>
            </a:r>
            <a:endParaRPr sz="13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IP: 192.168.1.12/24</a:t>
            </a:r>
            <a:endParaRPr sz="13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579" name="Google Shape;579;p46"/>
          <p:cNvSpPr txBox="1"/>
          <p:nvPr/>
        </p:nvSpPr>
        <p:spPr>
          <a:xfrm>
            <a:off x="7700650" y="2930325"/>
            <a:ext cx="1441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Servidor Moodle</a:t>
            </a:r>
            <a:endParaRPr sz="13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IP: 192.168.1.13/24</a:t>
            </a:r>
            <a:endParaRPr sz="13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580" name="Google Shape;580;p46" title="image-removebg-preview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5">
            <a:off x="1599100" y="2664784"/>
            <a:ext cx="1092674" cy="626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46" title="image-removebg-preview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">
            <a:off x="4145750" y="2575121"/>
            <a:ext cx="1029625" cy="626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46" title="image-removebg-preview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476538">
            <a:off x="5689925" y="2046484"/>
            <a:ext cx="1092674" cy="626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46" title="image-removebg-preview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843471">
            <a:off x="6065650" y="3011234"/>
            <a:ext cx="1092675" cy="626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46" title="image-removebg-preview (7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5250" y="2336650"/>
            <a:ext cx="1350492" cy="95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46" title="logo-empresa__3_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69780" y="3004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7"/>
          <p:cNvSpPr/>
          <p:nvPr/>
        </p:nvSpPr>
        <p:spPr>
          <a:xfrm>
            <a:off x="1523550" y="3048776"/>
            <a:ext cx="1518943" cy="1444365"/>
          </a:xfrm>
          <a:custGeom>
            <a:rect b="b" l="l" r="r" t="t"/>
            <a:pathLst>
              <a:path extrusionOk="0" fill="none" h="59032" w="52888">
                <a:moveTo>
                  <a:pt x="50259" y="59032"/>
                </a:moveTo>
                <a:lnTo>
                  <a:pt x="2629" y="59032"/>
                </a:lnTo>
                <a:cubicBezTo>
                  <a:pt x="1172" y="59032"/>
                  <a:pt x="0" y="57860"/>
                  <a:pt x="0" y="56403"/>
                </a:cubicBezTo>
                <a:lnTo>
                  <a:pt x="0" y="2629"/>
                </a:lnTo>
                <a:cubicBezTo>
                  <a:pt x="0" y="1173"/>
                  <a:pt x="1172" y="1"/>
                  <a:pt x="2629" y="1"/>
                </a:cubicBezTo>
                <a:lnTo>
                  <a:pt x="50259" y="1"/>
                </a:lnTo>
                <a:cubicBezTo>
                  <a:pt x="51716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59" y="59032"/>
                </a:cubicBezTo>
                <a:close/>
              </a:path>
            </a:pathLst>
          </a:custGeom>
          <a:noFill/>
          <a:ln cap="flat" cmpd="sng" w="10300">
            <a:solidFill>
              <a:srgbClr val="F2A365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47"/>
          <p:cNvSpPr/>
          <p:nvPr/>
        </p:nvSpPr>
        <p:spPr>
          <a:xfrm>
            <a:off x="3473599" y="3048776"/>
            <a:ext cx="1518972" cy="1444365"/>
          </a:xfrm>
          <a:custGeom>
            <a:rect b="b" l="l" r="r" t="t"/>
            <a:pathLst>
              <a:path extrusionOk="0" fill="none" h="59032" w="52889">
                <a:moveTo>
                  <a:pt x="50260" y="59032"/>
                </a:moveTo>
                <a:lnTo>
                  <a:pt x="2629" y="59032"/>
                </a:lnTo>
                <a:cubicBezTo>
                  <a:pt x="1173" y="59032"/>
                  <a:pt x="1" y="57860"/>
                  <a:pt x="1" y="56403"/>
                </a:cubicBezTo>
                <a:lnTo>
                  <a:pt x="1" y="2629"/>
                </a:lnTo>
                <a:cubicBezTo>
                  <a:pt x="1" y="1173"/>
                  <a:pt x="1173" y="1"/>
                  <a:pt x="2629" y="1"/>
                </a:cubicBezTo>
                <a:lnTo>
                  <a:pt x="50260" y="1"/>
                </a:lnTo>
                <a:cubicBezTo>
                  <a:pt x="51685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57" y="57860"/>
                  <a:pt x="51685" y="59032"/>
                  <a:pt x="50260" y="59032"/>
                </a:cubicBezTo>
                <a:close/>
              </a:path>
            </a:pathLst>
          </a:custGeom>
          <a:noFill/>
          <a:ln cap="flat" cmpd="sng" w="10300">
            <a:solidFill>
              <a:srgbClr val="222831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7"/>
          <p:cNvSpPr/>
          <p:nvPr/>
        </p:nvSpPr>
        <p:spPr>
          <a:xfrm>
            <a:off x="5422757" y="3048776"/>
            <a:ext cx="1518972" cy="1444365"/>
          </a:xfrm>
          <a:custGeom>
            <a:rect b="b" l="l" r="r" t="t"/>
            <a:pathLst>
              <a:path extrusionOk="0" fill="none" h="59032" w="52889">
                <a:moveTo>
                  <a:pt x="50260" y="59032"/>
                </a:moveTo>
                <a:lnTo>
                  <a:pt x="2629" y="59032"/>
                </a:lnTo>
                <a:cubicBezTo>
                  <a:pt x="1172" y="59032"/>
                  <a:pt x="1" y="57860"/>
                  <a:pt x="1" y="56403"/>
                </a:cubicBezTo>
                <a:lnTo>
                  <a:pt x="1" y="2629"/>
                </a:lnTo>
                <a:cubicBezTo>
                  <a:pt x="1" y="1173"/>
                  <a:pt x="1172" y="1"/>
                  <a:pt x="2629" y="1"/>
                </a:cubicBezTo>
                <a:lnTo>
                  <a:pt x="50260" y="1"/>
                </a:lnTo>
                <a:cubicBezTo>
                  <a:pt x="51716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60" y="59032"/>
                </a:cubicBezTo>
                <a:close/>
              </a:path>
            </a:pathLst>
          </a:custGeom>
          <a:noFill/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7"/>
          <p:cNvSpPr/>
          <p:nvPr/>
        </p:nvSpPr>
        <p:spPr>
          <a:xfrm>
            <a:off x="7372834" y="3048776"/>
            <a:ext cx="1518943" cy="1444365"/>
          </a:xfrm>
          <a:custGeom>
            <a:rect b="b" l="l" r="r" t="t"/>
            <a:pathLst>
              <a:path extrusionOk="0" fill="none" h="59032" w="52888">
                <a:moveTo>
                  <a:pt x="50259" y="59032"/>
                </a:moveTo>
                <a:lnTo>
                  <a:pt x="2629" y="59032"/>
                </a:lnTo>
                <a:cubicBezTo>
                  <a:pt x="1172" y="59032"/>
                  <a:pt x="0" y="57860"/>
                  <a:pt x="0" y="56403"/>
                </a:cubicBezTo>
                <a:lnTo>
                  <a:pt x="0" y="2629"/>
                </a:lnTo>
                <a:cubicBezTo>
                  <a:pt x="0" y="1173"/>
                  <a:pt x="1172" y="1"/>
                  <a:pt x="2629" y="1"/>
                </a:cubicBezTo>
                <a:lnTo>
                  <a:pt x="50259" y="1"/>
                </a:lnTo>
                <a:cubicBezTo>
                  <a:pt x="51684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59" y="59032"/>
                </a:cubicBezTo>
                <a:close/>
              </a:path>
            </a:pathLst>
          </a:custGeom>
          <a:noFill/>
          <a:ln cap="flat" cmpd="sng" w="10300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4" name="Google Shape;594;p47"/>
          <p:cNvGrpSpPr/>
          <p:nvPr/>
        </p:nvGrpSpPr>
        <p:grpSpPr>
          <a:xfrm>
            <a:off x="7638355" y="1735821"/>
            <a:ext cx="987877" cy="1111795"/>
            <a:chOff x="7228274" y="1201022"/>
            <a:chExt cx="1260851" cy="1419011"/>
          </a:xfrm>
        </p:grpSpPr>
        <p:sp>
          <p:nvSpPr>
            <p:cNvPr id="595" name="Google Shape;595;p47"/>
            <p:cNvSpPr/>
            <p:nvPr/>
          </p:nvSpPr>
          <p:spPr>
            <a:xfrm>
              <a:off x="7682044" y="2249445"/>
              <a:ext cx="335007" cy="370588"/>
            </a:xfrm>
            <a:custGeom>
              <a:rect b="b" l="l" r="r" t="t"/>
              <a:pathLst>
                <a:path extrusionOk="0" h="11561" w="10451">
                  <a:moveTo>
                    <a:pt x="0" y="1"/>
                  </a:moveTo>
                  <a:lnTo>
                    <a:pt x="5226" y="11560"/>
                  </a:lnTo>
                  <a:lnTo>
                    <a:pt x="1045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7"/>
            <p:cNvSpPr/>
            <p:nvPr/>
          </p:nvSpPr>
          <p:spPr>
            <a:xfrm>
              <a:off x="7228274" y="1201022"/>
              <a:ext cx="1260851" cy="1152826"/>
            </a:xfrm>
            <a:custGeom>
              <a:rect b="b" l="l" r="r" t="t"/>
              <a:pathLst>
                <a:path extrusionOk="0" h="35964" w="39334">
                  <a:moveTo>
                    <a:pt x="18888" y="1"/>
                  </a:moveTo>
                  <a:cubicBezTo>
                    <a:pt x="13304" y="1"/>
                    <a:pt x="7787" y="2456"/>
                    <a:pt x="4149" y="7119"/>
                  </a:cubicBezTo>
                  <a:cubicBezTo>
                    <a:pt x="2217" y="9590"/>
                    <a:pt x="1045" y="12377"/>
                    <a:pt x="602" y="15258"/>
                  </a:cubicBezTo>
                  <a:cubicBezTo>
                    <a:pt x="0" y="19027"/>
                    <a:pt x="633" y="22891"/>
                    <a:pt x="2470" y="26279"/>
                  </a:cubicBezTo>
                  <a:cubicBezTo>
                    <a:pt x="3262" y="27799"/>
                    <a:pt x="4307" y="29224"/>
                    <a:pt x="5606" y="30491"/>
                  </a:cubicBezTo>
                  <a:cubicBezTo>
                    <a:pt x="6239" y="31124"/>
                    <a:pt x="6936" y="31758"/>
                    <a:pt x="7696" y="32296"/>
                  </a:cubicBezTo>
                  <a:cubicBezTo>
                    <a:pt x="11040" y="34769"/>
                    <a:pt x="14967" y="35963"/>
                    <a:pt x="18862" y="35963"/>
                  </a:cubicBezTo>
                  <a:cubicBezTo>
                    <a:pt x="24446" y="35963"/>
                    <a:pt x="29963" y="33508"/>
                    <a:pt x="33601" y="28844"/>
                  </a:cubicBezTo>
                  <a:cubicBezTo>
                    <a:pt x="39333" y="21529"/>
                    <a:pt x="38383" y="11300"/>
                    <a:pt x="31764" y="5061"/>
                  </a:cubicBezTo>
                  <a:lnTo>
                    <a:pt x="31733" y="5061"/>
                  </a:lnTo>
                  <a:cubicBezTo>
                    <a:pt x="31226" y="4554"/>
                    <a:pt x="30656" y="4111"/>
                    <a:pt x="30054" y="3668"/>
                  </a:cubicBezTo>
                  <a:cubicBezTo>
                    <a:pt x="26710" y="1195"/>
                    <a:pt x="22782" y="1"/>
                    <a:pt x="1888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7"/>
            <p:cNvSpPr/>
            <p:nvPr/>
          </p:nvSpPr>
          <p:spPr>
            <a:xfrm>
              <a:off x="7407942" y="1363221"/>
              <a:ext cx="1081183" cy="990628"/>
            </a:xfrm>
            <a:custGeom>
              <a:rect b="b" l="l" r="r" t="t"/>
              <a:pathLst>
                <a:path extrusionOk="0" h="30904" w="33729">
                  <a:moveTo>
                    <a:pt x="26128" y="1"/>
                  </a:moveTo>
                  <a:lnTo>
                    <a:pt x="19224" y="6746"/>
                  </a:lnTo>
                  <a:lnTo>
                    <a:pt x="8678" y="16976"/>
                  </a:lnTo>
                  <a:lnTo>
                    <a:pt x="1077" y="24386"/>
                  </a:lnTo>
                  <a:lnTo>
                    <a:pt x="1" y="25431"/>
                  </a:lnTo>
                  <a:cubicBezTo>
                    <a:pt x="634" y="26064"/>
                    <a:pt x="1331" y="26698"/>
                    <a:pt x="2091" y="27236"/>
                  </a:cubicBezTo>
                  <a:cubicBezTo>
                    <a:pt x="5435" y="29709"/>
                    <a:pt x="9362" y="30903"/>
                    <a:pt x="13257" y="30903"/>
                  </a:cubicBezTo>
                  <a:cubicBezTo>
                    <a:pt x="18841" y="30903"/>
                    <a:pt x="24358" y="28448"/>
                    <a:pt x="27996" y="23784"/>
                  </a:cubicBezTo>
                  <a:cubicBezTo>
                    <a:pt x="33728" y="16469"/>
                    <a:pt x="32778" y="6240"/>
                    <a:pt x="2615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7"/>
            <p:cNvSpPr/>
            <p:nvPr/>
          </p:nvSpPr>
          <p:spPr>
            <a:xfrm>
              <a:off x="7477982" y="1450859"/>
              <a:ext cx="727905" cy="662224"/>
            </a:xfrm>
            <a:custGeom>
              <a:rect b="b" l="l" r="r" t="t"/>
              <a:pathLst>
                <a:path extrusionOk="0" h="20659" w="22708">
                  <a:moveTo>
                    <a:pt x="11334" y="0"/>
                  </a:moveTo>
                  <a:cubicBezTo>
                    <a:pt x="6640" y="0"/>
                    <a:pt x="2412" y="3195"/>
                    <a:pt x="1299" y="7971"/>
                  </a:cubicBezTo>
                  <a:cubicBezTo>
                    <a:pt x="1" y="13513"/>
                    <a:pt x="3421" y="19087"/>
                    <a:pt x="8995" y="20385"/>
                  </a:cubicBezTo>
                  <a:cubicBezTo>
                    <a:pt x="9784" y="20570"/>
                    <a:pt x="10573" y="20659"/>
                    <a:pt x="11351" y="20659"/>
                  </a:cubicBezTo>
                  <a:cubicBezTo>
                    <a:pt x="16037" y="20659"/>
                    <a:pt x="20295" y="17443"/>
                    <a:pt x="21409" y="12690"/>
                  </a:cubicBezTo>
                  <a:cubicBezTo>
                    <a:pt x="22707" y="7148"/>
                    <a:pt x="19256" y="1574"/>
                    <a:pt x="13713" y="276"/>
                  </a:cubicBezTo>
                  <a:cubicBezTo>
                    <a:pt x="12916" y="90"/>
                    <a:pt x="12118" y="0"/>
                    <a:pt x="113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7"/>
            <p:cNvSpPr/>
            <p:nvPr/>
          </p:nvSpPr>
          <p:spPr>
            <a:xfrm>
              <a:off x="7692174" y="1657870"/>
              <a:ext cx="287341" cy="274904"/>
            </a:xfrm>
            <a:custGeom>
              <a:rect b="b" l="l" r="r" t="t"/>
              <a:pathLst>
                <a:path extrusionOk="0" h="8576" w="8964">
                  <a:moveTo>
                    <a:pt x="2775" y="0"/>
                  </a:moveTo>
                  <a:cubicBezTo>
                    <a:pt x="2704" y="0"/>
                    <a:pt x="2632" y="19"/>
                    <a:pt x="2566" y="56"/>
                  </a:cubicBezTo>
                  <a:cubicBezTo>
                    <a:pt x="1014" y="785"/>
                    <a:pt x="1" y="2368"/>
                    <a:pt x="1" y="4078"/>
                  </a:cubicBezTo>
                  <a:cubicBezTo>
                    <a:pt x="1" y="6548"/>
                    <a:pt x="2028" y="8575"/>
                    <a:pt x="4498" y="8575"/>
                  </a:cubicBezTo>
                  <a:cubicBezTo>
                    <a:pt x="6936" y="8575"/>
                    <a:pt x="8963" y="6548"/>
                    <a:pt x="8963" y="4078"/>
                  </a:cubicBezTo>
                  <a:cubicBezTo>
                    <a:pt x="8963" y="2368"/>
                    <a:pt x="7950" y="785"/>
                    <a:pt x="6398" y="56"/>
                  </a:cubicBezTo>
                  <a:cubicBezTo>
                    <a:pt x="6332" y="19"/>
                    <a:pt x="6260" y="0"/>
                    <a:pt x="6189" y="0"/>
                  </a:cubicBezTo>
                  <a:cubicBezTo>
                    <a:pt x="6023" y="0"/>
                    <a:pt x="5863" y="100"/>
                    <a:pt x="5796" y="278"/>
                  </a:cubicBezTo>
                  <a:cubicBezTo>
                    <a:pt x="5701" y="500"/>
                    <a:pt x="5796" y="753"/>
                    <a:pt x="6018" y="880"/>
                  </a:cubicBezTo>
                  <a:cubicBezTo>
                    <a:pt x="7253" y="1450"/>
                    <a:pt x="8045" y="2716"/>
                    <a:pt x="8045" y="4078"/>
                  </a:cubicBezTo>
                  <a:cubicBezTo>
                    <a:pt x="8045" y="6042"/>
                    <a:pt x="6461" y="7657"/>
                    <a:pt x="4498" y="7657"/>
                  </a:cubicBezTo>
                  <a:cubicBezTo>
                    <a:pt x="2503" y="7657"/>
                    <a:pt x="919" y="6073"/>
                    <a:pt x="919" y="4078"/>
                  </a:cubicBezTo>
                  <a:cubicBezTo>
                    <a:pt x="919" y="2716"/>
                    <a:pt x="1711" y="1450"/>
                    <a:pt x="2946" y="880"/>
                  </a:cubicBezTo>
                  <a:cubicBezTo>
                    <a:pt x="3168" y="753"/>
                    <a:pt x="3294" y="500"/>
                    <a:pt x="3168" y="278"/>
                  </a:cubicBezTo>
                  <a:cubicBezTo>
                    <a:pt x="3101" y="100"/>
                    <a:pt x="2941" y="0"/>
                    <a:pt x="277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7"/>
            <p:cNvSpPr/>
            <p:nvPr/>
          </p:nvSpPr>
          <p:spPr>
            <a:xfrm>
              <a:off x="7821099" y="1589625"/>
              <a:ext cx="29491" cy="168545"/>
            </a:xfrm>
            <a:custGeom>
              <a:rect b="b" l="l" r="r" t="t"/>
              <a:pathLst>
                <a:path extrusionOk="0" h="5258" w="920">
                  <a:moveTo>
                    <a:pt x="476" y="0"/>
                  </a:moveTo>
                  <a:cubicBezTo>
                    <a:pt x="223" y="0"/>
                    <a:pt x="1" y="190"/>
                    <a:pt x="1" y="444"/>
                  </a:cubicBezTo>
                  <a:lnTo>
                    <a:pt x="1" y="4782"/>
                  </a:lnTo>
                  <a:cubicBezTo>
                    <a:pt x="1" y="5036"/>
                    <a:pt x="223" y="5257"/>
                    <a:pt x="476" y="5257"/>
                  </a:cubicBezTo>
                  <a:cubicBezTo>
                    <a:pt x="698" y="5257"/>
                    <a:pt x="919" y="5036"/>
                    <a:pt x="919" y="4782"/>
                  </a:cubicBezTo>
                  <a:lnTo>
                    <a:pt x="919" y="444"/>
                  </a:lnTo>
                  <a:cubicBezTo>
                    <a:pt x="919" y="190"/>
                    <a:pt x="698" y="0"/>
                    <a:pt x="47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1" name="Google Shape;601;p47"/>
          <p:cNvGrpSpPr/>
          <p:nvPr/>
        </p:nvGrpSpPr>
        <p:grpSpPr>
          <a:xfrm>
            <a:off x="1768789" y="1735821"/>
            <a:ext cx="1028438" cy="1111795"/>
            <a:chOff x="643984" y="1201022"/>
            <a:chExt cx="1312620" cy="1419011"/>
          </a:xfrm>
        </p:grpSpPr>
        <p:sp>
          <p:nvSpPr>
            <p:cNvPr id="602" name="Google Shape;602;p47"/>
            <p:cNvSpPr/>
            <p:nvPr/>
          </p:nvSpPr>
          <p:spPr>
            <a:xfrm>
              <a:off x="1135323" y="2249445"/>
              <a:ext cx="334013" cy="370588"/>
            </a:xfrm>
            <a:custGeom>
              <a:rect b="b" l="l" r="r" t="t"/>
              <a:pathLst>
                <a:path extrusionOk="0" h="11561" w="10420">
                  <a:moveTo>
                    <a:pt x="0" y="1"/>
                  </a:moveTo>
                  <a:lnTo>
                    <a:pt x="5226" y="11560"/>
                  </a:lnTo>
                  <a:lnTo>
                    <a:pt x="1041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7"/>
            <p:cNvSpPr/>
            <p:nvPr/>
          </p:nvSpPr>
          <p:spPr>
            <a:xfrm>
              <a:off x="643984" y="1201022"/>
              <a:ext cx="1307556" cy="1152826"/>
            </a:xfrm>
            <a:custGeom>
              <a:rect b="b" l="l" r="r" t="t"/>
              <a:pathLst>
                <a:path extrusionOk="0" h="35964" w="40791">
                  <a:moveTo>
                    <a:pt x="20535" y="1"/>
                  </a:moveTo>
                  <a:cubicBezTo>
                    <a:pt x="14951" y="1"/>
                    <a:pt x="9434" y="2456"/>
                    <a:pt x="5796" y="7119"/>
                  </a:cubicBezTo>
                  <a:cubicBezTo>
                    <a:pt x="1" y="14530"/>
                    <a:pt x="1046" y="24917"/>
                    <a:pt x="7918" y="31124"/>
                  </a:cubicBezTo>
                  <a:cubicBezTo>
                    <a:pt x="8393" y="31536"/>
                    <a:pt x="8868" y="31948"/>
                    <a:pt x="9375" y="32296"/>
                  </a:cubicBezTo>
                  <a:cubicBezTo>
                    <a:pt x="12719" y="34769"/>
                    <a:pt x="16646" y="35963"/>
                    <a:pt x="20541" y="35963"/>
                  </a:cubicBezTo>
                  <a:cubicBezTo>
                    <a:pt x="26125" y="35963"/>
                    <a:pt x="31642" y="33508"/>
                    <a:pt x="35280" y="28844"/>
                  </a:cubicBezTo>
                  <a:cubicBezTo>
                    <a:pt x="40790" y="21782"/>
                    <a:pt x="40094" y="11996"/>
                    <a:pt x="34076" y="5726"/>
                  </a:cubicBezTo>
                  <a:cubicBezTo>
                    <a:pt x="33348" y="4966"/>
                    <a:pt x="32588" y="4301"/>
                    <a:pt x="31701" y="3668"/>
                  </a:cubicBezTo>
                  <a:cubicBezTo>
                    <a:pt x="28357" y="1195"/>
                    <a:pt x="24430" y="1"/>
                    <a:pt x="205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7"/>
            <p:cNvSpPr/>
            <p:nvPr/>
          </p:nvSpPr>
          <p:spPr>
            <a:xfrm>
              <a:off x="902861" y="1384569"/>
              <a:ext cx="1053744" cy="969279"/>
            </a:xfrm>
            <a:custGeom>
              <a:rect b="b" l="l" r="r" t="t"/>
              <a:pathLst>
                <a:path extrusionOk="0" h="30238" w="32873">
                  <a:moveTo>
                    <a:pt x="26159" y="0"/>
                  </a:moveTo>
                  <a:lnTo>
                    <a:pt x="17196" y="8709"/>
                  </a:lnTo>
                  <a:lnTo>
                    <a:pt x="8772" y="16880"/>
                  </a:lnTo>
                  <a:lnTo>
                    <a:pt x="0" y="25398"/>
                  </a:lnTo>
                  <a:cubicBezTo>
                    <a:pt x="444" y="25810"/>
                    <a:pt x="919" y="26222"/>
                    <a:pt x="1425" y="26570"/>
                  </a:cubicBezTo>
                  <a:cubicBezTo>
                    <a:pt x="4770" y="29043"/>
                    <a:pt x="8702" y="30237"/>
                    <a:pt x="12603" y="30237"/>
                  </a:cubicBezTo>
                  <a:cubicBezTo>
                    <a:pt x="18196" y="30237"/>
                    <a:pt x="23724" y="27782"/>
                    <a:pt x="27362" y="23118"/>
                  </a:cubicBezTo>
                  <a:cubicBezTo>
                    <a:pt x="32873" y="16056"/>
                    <a:pt x="32176" y="6270"/>
                    <a:pt x="2615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7"/>
            <p:cNvSpPr/>
            <p:nvPr/>
          </p:nvSpPr>
          <p:spPr>
            <a:xfrm>
              <a:off x="933313" y="1436018"/>
              <a:ext cx="712647" cy="662513"/>
            </a:xfrm>
            <a:custGeom>
              <a:rect b="b" l="l" r="r" t="t"/>
              <a:pathLst>
                <a:path extrusionOk="0" h="20668" w="22232">
                  <a:moveTo>
                    <a:pt x="11090" y="1"/>
                  </a:moveTo>
                  <a:cubicBezTo>
                    <a:pt x="6114" y="1"/>
                    <a:pt x="1745" y="3613"/>
                    <a:pt x="919" y="8687"/>
                  </a:cubicBezTo>
                  <a:cubicBezTo>
                    <a:pt x="0" y="14324"/>
                    <a:pt x="3832" y="19613"/>
                    <a:pt x="9469" y="20532"/>
                  </a:cubicBezTo>
                  <a:cubicBezTo>
                    <a:pt x="10032" y="20623"/>
                    <a:pt x="10591" y="20668"/>
                    <a:pt x="11142" y="20668"/>
                  </a:cubicBezTo>
                  <a:cubicBezTo>
                    <a:pt x="16118" y="20668"/>
                    <a:pt x="20487" y="17059"/>
                    <a:pt x="21314" y="12013"/>
                  </a:cubicBezTo>
                  <a:cubicBezTo>
                    <a:pt x="22232" y="6376"/>
                    <a:pt x="18400" y="1055"/>
                    <a:pt x="12763" y="137"/>
                  </a:cubicBezTo>
                  <a:cubicBezTo>
                    <a:pt x="12201" y="45"/>
                    <a:pt x="11642" y="1"/>
                    <a:pt x="110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7"/>
            <p:cNvSpPr/>
            <p:nvPr/>
          </p:nvSpPr>
          <p:spPr>
            <a:xfrm>
              <a:off x="1154621" y="1737719"/>
              <a:ext cx="270063" cy="231597"/>
            </a:xfrm>
            <a:custGeom>
              <a:rect b="b" l="l" r="r" t="t"/>
              <a:pathLst>
                <a:path extrusionOk="0" h="7225" w="8425">
                  <a:moveTo>
                    <a:pt x="486" y="1"/>
                  </a:moveTo>
                  <a:cubicBezTo>
                    <a:pt x="472" y="1"/>
                    <a:pt x="458" y="2"/>
                    <a:pt x="443" y="4"/>
                  </a:cubicBezTo>
                  <a:cubicBezTo>
                    <a:pt x="190" y="35"/>
                    <a:pt x="0" y="225"/>
                    <a:pt x="0" y="479"/>
                  </a:cubicBezTo>
                  <a:cubicBezTo>
                    <a:pt x="127" y="2569"/>
                    <a:pt x="1742" y="4216"/>
                    <a:pt x="3769" y="4437"/>
                  </a:cubicBezTo>
                  <a:lnTo>
                    <a:pt x="3769" y="6781"/>
                  </a:lnTo>
                  <a:cubicBezTo>
                    <a:pt x="3769" y="7003"/>
                    <a:pt x="3959" y="7224"/>
                    <a:pt x="4212" y="7224"/>
                  </a:cubicBezTo>
                  <a:cubicBezTo>
                    <a:pt x="4465" y="7224"/>
                    <a:pt x="4655" y="7003"/>
                    <a:pt x="4655" y="6781"/>
                  </a:cubicBezTo>
                  <a:lnTo>
                    <a:pt x="4655" y="4437"/>
                  </a:lnTo>
                  <a:cubicBezTo>
                    <a:pt x="6682" y="4216"/>
                    <a:pt x="8297" y="2569"/>
                    <a:pt x="8424" y="479"/>
                  </a:cubicBezTo>
                  <a:cubicBezTo>
                    <a:pt x="8424" y="225"/>
                    <a:pt x="8234" y="35"/>
                    <a:pt x="7981" y="4"/>
                  </a:cubicBezTo>
                  <a:cubicBezTo>
                    <a:pt x="7966" y="2"/>
                    <a:pt x="7952" y="1"/>
                    <a:pt x="7938" y="1"/>
                  </a:cubicBezTo>
                  <a:cubicBezTo>
                    <a:pt x="7731" y="1"/>
                    <a:pt x="7535" y="210"/>
                    <a:pt x="7506" y="447"/>
                  </a:cubicBezTo>
                  <a:cubicBezTo>
                    <a:pt x="7411" y="2189"/>
                    <a:pt x="5986" y="3582"/>
                    <a:pt x="4212" y="3582"/>
                  </a:cubicBezTo>
                  <a:cubicBezTo>
                    <a:pt x="2470" y="3582"/>
                    <a:pt x="1013" y="2189"/>
                    <a:pt x="918" y="447"/>
                  </a:cubicBezTo>
                  <a:cubicBezTo>
                    <a:pt x="889" y="210"/>
                    <a:pt x="693" y="1"/>
                    <a:pt x="48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7"/>
            <p:cNvSpPr/>
            <p:nvPr/>
          </p:nvSpPr>
          <p:spPr>
            <a:xfrm>
              <a:off x="1207383" y="1566257"/>
              <a:ext cx="165500" cy="261953"/>
            </a:xfrm>
            <a:custGeom>
              <a:rect b="b" l="l" r="r" t="t"/>
              <a:pathLst>
                <a:path extrusionOk="0" h="8172" w="5163">
                  <a:moveTo>
                    <a:pt x="2566" y="887"/>
                  </a:moveTo>
                  <a:cubicBezTo>
                    <a:pt x="3009" y="887"/>
                    <a:pt x="3421" y="1078"/>
                    <a:pt x="3769" y="1394"/>
                  </a:cubicBezTo>
                  <a:cubicBezTo>
                    <a:pt x="4055" y="1711"/>
                    <a:pt x="4245" y="2123"/>
                    <a:pt x="4245" y="2566"/>
                  </a:cubicBezTo>
                  <a:lnTo>
                    <a:pt x="4245" y="5606"/>
                  </a:lnTo>
                  <a:cubicBezTo>
                    <a:pt x="4245" y="5669"/>
                    <a:pt x="4245" y="5701"/>
                    <a:pt x="4245" y="5765"/>
                  </a:cubicBezTo>
                  <a:cubicBezTo>
                    <a:pt x="4150" y="6620"/>
                    <a:pt x="3453" y="7285"/>
                    <a:pt x="2566" y="7285"/>
                  </a:cubicBezTo>
                  <a:cubicBezTo>
                    <a:pt x="1711" y="7285"/>
                    <a:pt x="983" y="6620"/>
                    <a:pt x="919" y="5765"/>
                  </a:cubicBezTo>
                  <a:cubicBezTo>
                    <a:pt x="919" y="5701"/>
                    <a:pt x="888" y="5669"/>
                    <a:pt x="888" y="5606"/>
                  </a:cubicBezTo>
                  <a:lnTo>
                    <a:pt x="888" y="2566"/>
                  </a:lnTo>
                  <a:cubicBezTo>
                    <a:pt x="888" y="1648"/>
                    <a:pt x="1648" y="887"/>
                    <a:pt x="2566" y="887"/>
                  </a:cubicBezTo>
                  <a:close/>
                  <a:moveTo>
                    <a:pt x="2566" y="1"/>
                  </a:moveTo>
                  <a:cubicBezTo>
                    <a:pt x="1141" y="1"/>
                    <a:pt x="1" y="1141"/>
                    <a:pt x="1" y="2566"/>
                  </a:cubicBezTo>
                  <a:lnTo>
                    <a:pt x="1" y="5606"/>
                  </a:lnTo>
                  <a:cubicBezTo>
                    <a:pt x="1" y="5669"/>
                    <a:pt x="1" y="5733"/>
                    <a:pt x="1" y="5860"/>
                  </a:cubicBezTo>
                  <a:cubicBezTo>
                    <a:pt x="128" y="7190"/>
                    <a:pt x="1236" y="8171"/>
                    <a:pt x="2566" y="8171"/>
                  </a:cubicBezTo>
                  <a:cubicBezTo>
                    <a:pt x="3896" y="8171"/>
                    <a:pt x="5005" y="7190"/>
                    <a:pt x="5131" y="5828"/>
                  </a:cubicBezTo>
                  <a:cubicBezTo>
                    <a:pt x="5131" y="5765"/>
                    <a:pt x="5163" y="5669"/>
                    <a:pt x="5163" y="5606"/>
                  </a:cubicBezTo>
                  <a:lnTo>
                    <a:pt x="5163" y="2566"/>
                  </a:lnTo>
                  <a:cubicBezTo>
                    <a:pt x="5163" y="1901"/>
                    <a:pt x="4878" y="1236"/>
                    <a:pt x="4403" y="729"/>
                  </a:cubicBezTo>
                  <a:cubicBezTo>
                    <a:pt x="3896" y="254"/>
                    <a:pt x="3263" y="1"/>
                    <a:pt x="256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8" name="Google Shape;608;p47"/>
          <p:cNvSpPr/>
          <p:nvPr/>
        </p:nvSpPr>
        <p:spPr>
          <a:xfrm>
            <a:off x="6077083" y="2557260"/>
            <a:ext cx="262503" cy="290356"/>
          </a:xfrm>
          <a:custGeom>
            <a:rect b="b" l="l" r="r" t="t"/>
            <a:pathLst>
              <a:path extrusionOk="0" h="11561" w="10452">
                <a:moveTo>
                  <a:pt x="1" y="1"/>
                </a:moveTo>
                <a:lnTo>
                  <a:pt x="5226" y="11560"/>
                </a:lnTo>
                <a:lnTo>
                  <a:pt x="10451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47"/>
          <p:cNvGrpSpPr/>
          <p:nvPr/>
        </p:nvGrpSpPr>
        <p:grpSpPr>
          <a:xfrm>
            <a:off x="3747232" y="1735821"/>
            <a:ext cx="987877" cy="1111795"/>
            <a:chOff x="2870204" y="1201022"/>
            <a:chExt cx="1260851" cy="1419011"/>
          </a:xfrm>
        </p:grpSpPr>
        <p:sp>
          <p:nvSpPr>
            <p:cNvPr id="610" name="Google Shape;610;p47"/>
            <p:cNvSpPr/>
            <p:nvPr/>
          </p:nvSpPr>
          <p:spPr>
            <a:xfrm>
              <a:off x="3323975" y="2249445"/>
              <a:ext cx="334013" cy="370588"/>
            </a:xfrm>
            <a:custGeom>
              <a:rect b="b" l="l" r="r" t="t"/>
              <a:pathLst>
                <a:path extrusionOk="0" h="11561" w="10420">
                  <a:moveTo>
                    <a:pt x="1" y="1"/>
                  </a:moveTo>
                  <a:lnTo>
                    <a:pt x="5226" y="11560"/>
                  </a:lnTo>
                  <a:lnTo>
                    <a:pt x="1042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7"/>
            <p:cNvSpPr/>
            <p:nvPr/>
          </p:nvSpPr>
          <p:spPr>
            <a:xfrm>
              <a:off x="2870204" y="1201022"/>
              <a:ext cx="1260851" cy="1152826"/>
            </a:xfrm>
            <a:custGeom>
              <a:rect b="b" l="l" r="r" t="t"/>
              <a:pathLst>
                <a:path extrusionOk="0" h="35964" w="39334">
                  <a:moveTo>
                    <a:pt x="19110" y="1"/>
                  </a:moveTo>
                  <a:cubicBezTo>
                    <a:pt x="13526" y="1"/>
                    <a:pt x="8009" y="2456"/>
                    <a:pt x="4371" y="7119"/>
                  </a:cubicBezTo>
                  <a:cubicBezTo>
                    <a:pt x="2693" y="9241"/>
                    <a:pt x="1616" y="11616"/>
                    <a:pt x="1046" y="14055"/>
                  </a:cubicBezTo>
                  <a:cubicBezTo>
                    <a:pt x="1" y="18584"/>
                    <a:pt x="824" y="23334"/>
                    <a:pt x="3294" y="27324"/>
                  </a:cubicBezTo>
                  <a:cubicBezTo>
                    <a:pt x="4181" y="28749"/>
                    <a:pt x="5290" y="30079"/>
                    <a:pt x="6620" y="31251"/>
                  </a:cubicBezTo>
                  <a:cubicBezTo>
                    <a:pt x="7031" y="31600"/>
                    <a:pt x="7475" y="31980"/>
                    <a:pt x="7918" y="32296"/>
                  </a:cubicBezTo>
                  <a:cubicBezTo>
                    <a:pt x="11262" y="34769"/>
                    <a:pt x="15195" y="35963"/>
                    <a:pt x="19096" y="35963"/>
                  </a:cubicBezTo>
                  <a:cubicBezTo>
                    <a:pt x="24689" y="35963"/>
                    <a:pt x="30217" y="33508"/>
                    <a:pt x="33855" y="28844"/>
                  </a:cubicBezTo>
                  <a:cubicBezTo>
                    <a:pt x="39334" y="21814"/>
                    <a:pt x="38669" y="12123"/>
                    <a:pt x="32747" y="5853"/>
                  </a:cubicBezTo>
                  <a:cubicBezTo>
                    <a:pt x="32018" y="5061"/>
                    <a:pt x="31195" y="4333"/>
                    <a:pt x="30276" y="3668"/>
                  </a:cubicBezTo>
                  <a:cubicBezTo>
                    <a:pt x="26932" y="1195"/>
                    <a:pt x="23005" y="1"/>
                    <a:pt x="1911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7"/>
            <p:cNvSpPr/>
            <p:nvPr/>
          </p:nvSpPr>
          <p:spPr>
            <a:xfrm>
              <a:off x="3082376" y="1388608"/>
              <a:ext cx="1048679" cy="965240"/>
            </a:xfrm>
            <a:custGeom>
              <a:rect b="b" l="l" r="r" t="t"/>
              <a:pathLst>
                <a:path extrusionOk="0" h="30112" w="32715">
                  <a:moveTo>
                    <a:pt x="26128" y="1"/>
                  </a:moveTo>
                  <a:lnTo>
                    <a:pt x="18685" y="7221"/>
                  </a:lnTo>
                  <a:lnTo>
                    <a:pt x="9216" y="16437"/>
                  </a:lnTo>
                  <a:lnTo>
                    <a:pt x="1" y="25399"/>
                  </a:lnTo>
                  <a:cubicBezTo>
                    <a:pt x="412" y="25748"/>
                    <a:pt x="856" y="26128"/>
                    <a:pt x="1299" y="26444"/>
                  </a:cubicBezTo>
                  <a:cubicBezTo>
                    <a:pt x="4643" y="28917"/>
                    <a:pt x="8571" y="30111"/>
                    <a:pt x="12466" y="30111"/>
                  </a:cubicBezTo>
                  <a:cubicBezTo>
                    <a:pt x="18049" y="30111"/>
                    <a:pt x="23566" y="27656"/>
                    <a:pt x="27204" y="22992"/>
                  </a:cubicBezTo>
                  <a:cubicBezTo>
                    <a:pt x="32715" y="15962"/>
                    <a:pt x="32050" y="6271"/>
                    <a:pt x="2612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47"/>
            <p:cNvSpPr/>
            <p:nvPr/>
          </p:nvSpPr>
          <p:spPr>
            <a:xfrm>
              <a:off x="3147352" y="1440377"/>
              <a:ext cx="662929" cy="662929"/>
            </a:xfrm>
            <a:custGeom>
              <a:rect b="b" l="l" r="r" t="t"/>
              <a:pathLst>
                <a:path extrusionOk="0" h="20681" w="20681">
                  <a:moveTo>
                    <a:pt x="10325" y="1"/>
                  </a:moveTo>
                  <a:cubicBezTo>
                    <a:pt x="4624" y="1"/>
                    <a:pt x="0" y="4624"/>
                    <a:pt x="0" y="10357"/>
                  </a:cubicBezTo>
                  <a:cubicBezTo>
                    <a:pt x="0" y="16057"/>
                    <a:pt x="4624" y="20681"/>
                    <a:pt x="10325" y="20681"/>
                  </a:cubicBezTo>
                  <a:cubicBezTo>
                    <a:pt x="16025" y="20681"/>
                    <a:pt x="20680" y="16057"/>
                    <a:pt x="20680" y="10357"/>
                  </a:cubicBezTo>
                  <a:cubicBezTo>
                    <a:pt x="20680" y="4624"/>
                    <a:pt x="16025" y="1"/>
                    <a:pt x="103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47"/>
            <p:cNvSpPr/>
            <p:nvPr/>
          </p:nvSpPr>
          <p:spPr>
            <a:xfrm>
              <a:off x="3276277" y="1668801"/>
              <a:ext cx="405079" cy="206114"/>
            </a:xfrm>
            <a:custGeom>
              <a:rect b="b" l="l" r="r" t="t"/>
              <a:pathLst>
                <a:path extrusionOk="0" h="6430" w="12637">
                  <a:moveTo>
                    <a:pt x="11718" y="2154"/>
                  </a:moveTo>
                  <a:lnTo>
                    <a:pt x="11718" y="4307"/>
                  </a:lnTo>
                  <a:lnTo>
                    <a:pt x="11021" y="4307"/>
                  </a:lnTo>
                  <a:lnTo>
                    <a:pt x="11021" y="2154"/>
                  </a:lnTo>
                  <a:close/>
                  <a:moveTo>
                    <a:pt x="10135" y="919"/>
                  </a:moveTo>
                  <a:lnTo>
                    <a:pt x="10135" y="1679"/>
                  </a:lnTo>
                  <a:lnTo>
                    <a:pt x="10135" y="4751"/>
                  </a:lnTo>
                  <a:lnTo>
                    <a:pt x="10135" y="5511"/>
                  </a:lnTo>
                  <a:lnTo>
                    <a:pt x="887" y="5511"/>
                  </a:lnTo>
                  <a:lnTo>
                    <a:pt x="887" y="919"/>
                  </a:lnTo>
                  <a:close/>
                  <a:moveTo>
                    <a:pt x="444" y="0"/>
                  </a:moveTo>
                  <a:cubicBezTo>
                    <a:pt x="190" y="0"/>
                    <a:pt x="0" y="222"/>
                    <a:pt x="0" y="475"/>
                  </a:cubicBezTo>
                  <a:lnTo>
                    <a:pt x="0" y="5954"/>
                  </a:lnTo>
                  <a:cubicBezTo>
                    <a:pt x="0" y="6207"/>
                    <a:pt x="190" y="6429"/>
                    <a:pt x="444" y="6429"/>
                  </a:cubicBezTo>
                  <a:lnTo>
                    <a:pt x="10578" y="6429"/>
                  </a:lnTo>
                  <a:cubicBezTo>
                    <a:pt x="10831" y="6429"/>
                    <a:pt x="11021" y="6207"/>
                    <a:pt x="11021" y="5954"/>
                  </a:cubicBezTo>
                  <a:lnTo>
                    <a:pt x="11021" y="5194"/>
                  </a:lnTo>
                  <a:lnTo>
                    <a:pt x="12193" y="5194"/>
                  </a:lnTo>
                  <a:cubicBezTo>
                    <a:pt x="12415" y="5194"/>
                    <a:pt x="12636" y="5004"/>
                    <a:pt x="12636" y="4751"/>
                  </a:cubicBezTo>
                  <a:lnTo>
                    <a:pt x="12636" y="1679"/>
                  </a:lnTo>
                  <a:cubicBezTo>
                    <a:pt x="12636" y="1425"/>
                    <a:pt x="12415" y="1235"/>
                    <a:pt x="12193" y="1235"/>
                  </a:cubicBezTo>
                  <a:lnTo>
                    <a:pt x="11021" y="1235"/>
                  </a:lnTo>
                  <a:lnTo>
                    <a:pt x="11021" y="475"/>
                  </a:lnTo>
                  <a:cubicBezTo>
                    <a:pt x="11021" y="222"/>
                    <a:pt x="10831" y="0"/>
                    <a:pt x="1057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47"/>
            <p:cNvSpPr/>
            <p:nvPr/>
          </p:nvSpPr>
          <p:spPr>
            <a:xfrm>
              <a:off x="3318910" y="1708389"/>
              <a:ext cx="37601" cy="126938"/>
            </a:xfrm>
            <a:custGeom>
              <a:rect b="b" l="l" r="r" t="t"/>
              <a:pathLst>
                <a:path extrusionOk="0" h="3960" w="1173">
                  <a:moveTo>
                    <a:pt x="1" y="0"/>
                  </a:moveTo>
                  <a:lnTo>
                    <a:pt x="1" y="3959"/>
                  </a:lnTo>
                  <a:lnTo>
                    <a:pt x="1172" y="3959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47"/>
            <p:cNvSpPr/>
            <p:nvPr/>
          </p:nvSpPr>
          <p:spPr>
            <a:xfrm>
              <a:off x="3373724" y="1708389"/>
              <a:ext cx="37601" cy="126938"/>
            </a:xfrm>
            <a:custGeom>
              <a:rect b="b" l="l" r="r" t="t"/>
              <a:pathLst>
                <a:path extrusionOk="0" h="3960" w="1173">
                  <a:moveTo>
                    <a:pt x="1" y="0"/>
                  </a:moveTo>
                  <a:lnTo>
                    <a:pt x="1" y="3959"/>
                  </a:lnTo>
                  <a:lnTo>
                    <a:pt x="1172" y="3959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7"/>
            <p:cNvSpPr/>
            <p:nvPr/>
          </p:nvSpPr>
          <p:spPr>
            <a:xfrm>
              <a:off x="3428538" y="1708389"/>
              <a:ext cx="37601" cy="126938"/>
            </a:xfrm>
            <a:custGeom>
              <a:rect b="b" l="l" r="r" t="t"/>
              <a:pathLst>
                <a:path extrusionOk="0" h="3960" w="1173">
                  <a:moveTo>
                    <a:pt x="1" y="0"/>
                  </a:moveTo>
                  <a:lnTo>
                    <a:pt x="1" y="3959"/>
                  </a:lnTo>
                  <a:lnTo>
                    <a:pt x="1173" y="3959"/>
                  </a:lnTo>
                  <a:lnTo>
                    <a:pt x="117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8" name="Google Shape;618;p47"/>
          <p:cNvSpPr txBox="1"/>
          <p:nvPr/>
        </p:nvSpPr>
        <p:spPr>
          <a:xfrm>
            <a:off x="1523550" y="3048777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Proxy</a:t>
            </a:r>
            <a:endParaRPr sz="120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19" name="Google Shape;619;p47"/>
          <p:cNvSpPr txBox="1"/>
          <p:nvPr/>
        </p:nvSpPr>
        <p:spPr>
          <a:xfrm>
            <a:off x="1523550" y="3530025"/>
            <a:ext cx="15189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Ubuntu server amb un servidor intermediari (proxy squid).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0" name="Google Shape;620;p47"/>
          <p:cNvSpPr txBox="1"/>
          <p:nvPr/>
        </p:nvSpPr>
        <p:spPr>
          <a:xfrm>
            <a:off x="3473166" y="3048814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PFsense</a:t>
            </a:r>
            <a:endParaRPr sz="12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21" name="Google Shape;621;p47"/>
          <p:cNvSpPr txBox="1"/>
          <p:nvPr/>
        </p:nvSpPr>
        <p:spPr>
          <a:xfrm>
            <a:off x="3473165" y="3413163"/>
            <a:ext cx="15189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Servidor amb el programari PFsense de Netgate (Dona acces a la WAN)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2" name="Google Shape;622;p47"/>
          <p:cNvSpPr txBox="1"/>
          <p:nvPr/>
        </p:nvSpPr>
        <p:spPr>
          <a:xfrm>
            <a:off x="5422994" y="3048814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8A8A8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WIndows Server</a:t>
            </a:r>
            <a:endParaRPr sz="1200">
              <a:solidFill>
                <a:srgbClr val="A8A8A8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23" name="Google Shape;623;p47"/>
          <p:cNvSpPr txBox="1"/>
          <p:nvPr/>
        </p:nvSpPr>
        <p:spPr>
          <a:xfrm>
            <a:off x="5423000" y="3530074"/>
            <a:ext cx="15189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Servidor Windows 2019 com a controlador de domini i DNS.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4" name="Google Shape;624;p47"/>
          <p:cNvSpPr txBox="1"/>
          <p:nvPr/>
        </p:nvSpPr>
        <p:spPr>
          <a:xfrm>
            <a:off x="7372352" y="3048814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Mikrotik</a:t>
            </a:r>
            <a:endParaRPr sz="12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25" name="Google Shape;625;p47"/>
          <p:cNvSpPr txBox="1"/>
          <p:nvPr/>
        </p:nvSpPr>
        <p:spPr>
          <a:xfrm>
            <a:off x="7372350" y="3530072"/>
            <a:ext cx="1518900" cy="7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Dispositiu físic que fa la funció d’un Router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6" name="Google Shape;626;p47"/>
          <p:cNvSpPr txBox="1"/>
          <p:nvPr/>
        </p:nvSpPr>
        <p:spPr>
          <a:xfrm>
            <a:off x="371338" y="4541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3. Estructura de la xarxa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627" name="Google Shape;62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500" y="1690675"/>
            <a:ext cx="1591051" cy="96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47"/>
          <p:cNvPicPr preferRelativeResize="0"/>
          <p:nvPr/>
        </p:nvPicPr>
        <p:blipFill rotWithShape="1">
          <a:blip r:embed="rId4">
            <a:alphaModFix/>
          </a:blip>
          <a:srcRect b="9107" l="23610" r="20468" t="7113"/>
          <a:stretch/>
        </p:blipFill>
        <p:spPr>
          <a:xfrm>
            <a:off x="3757534" y="1735837"/>
            <a:ext cx="967291" cy="96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1840" y="1690675"/>
            <a:ext cx="1840923" cy="9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7"/>
          <p:cNvSpPr txBox="1"/>
          <p:nvPr/>
        </p:nvSpPr>
        <p:spPr>
          <a:xfrm>
            <a:off x="1307825" y="1041175"/>
            <a:ext cx="47415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Servidors de la xarxa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631" name="Google Shape;631;p47" title="image-removebg-preview (8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2788" y="1681709"/>
            <a:ext cx="987875" cy="980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47" title="logo-empresa__3_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69780" y="3004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8"/>
          <p:cNvSpPr/>
          <p:nvPr/>
        </p:nvSpPr>
        <p:spPr>
          <a:xfrm>
            <a:off x="1465100" y="2975751"/>
            <a:ext cx="1518943" cy="1444365"/>
          </a:xfrm>
          <a:custGeom>
            <a:rect b="b" l="l" r="r" t="t"/>
            <a:pathLst>
              <a:path extrusionOk="0" fill="none" h="59032" w="52888">
                <a:moveTo>
                  <a:pt x="50259" y="59032"/>
                </a:moveTo>
                <a:lnTo>
                  <a:pt x="2629" y="59032"/>
                </a:lnTo>
                <a:cubicBezTo>
                  <a:pt x="1172" y="59032"/>
                  <a:pt x="0" y="57860"/>
                  <a:pt x="0" y="56403"/>
                </a:cubicBezTo>
                <a:lnTo>
                  <a:pt x="0" y="2629"/>
                </a:lnTo>
                <a:cubicBezTo>
                  <a:pt x="0" y="1173"/>
                  <a:pt x="1172" y="1"/>
                  <a:pt x="2629" y="1"/>
                </a:cubicBezTo>
                <a:lnTo>
                  <a:pt x="50259" y="1"/>
                </a:lnTo>
                <a:cubicBezTo>
                  <a:pt x="51716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59" y="59032"/>
                </a:cubicBezTo>
                <a:close/>
              </a:path>
            </a:pathLst>
          </a:custGeom>
          <a:noFill/>
          <a:ln cap="flat" cmpd="sng" w="10300">
            <a:solidFill>
              <a:srgbClr val="F2A365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8"/>
          <p:cNvSpPr/>
          <p:nvPr/>
        </p:nvSpPr>
        <p:spPr>
          <a:xfrm>
            <a:off x="3415149" y="2975751"/>
            <a:ext cx="1518972" cy="1444365"/>
          </a:xfrm>
          <a:custGeom>
            <a:rect b="b" l="l" r="r" t="t"/>
            <a:pathLst>
              <a:path extrusionOk="0" fill="none" h="59032" w="52889">
                <a:moveTo>
                  <a:pt x="50260" y="59032"/>
                </a:moveTo>
                <a:lnTo>
                  <a:pt x="2629" y="59032"/>
                </a:lnTo>
                <a:cubicBezTo>
                  <a:pt x="1173" y="59032"/>
                  <a:pt x="1" y="57860"/>
                  <a:pt x="1" y="56403"/>
                </a:cubicBezTo>
                <a:lnTo>
                  <a:pt x="1" y="2629"/>
                </a:lnTo>
                <a:cubicBezTo>
                  <a:pt x="1" y="1173"/>
                  <a:pt x="1173" y="1"/>
                  <a:pt x="2629" y="1"/>
                </a:cubicBezTo>
                <a:lnTo>
                  <a:pt x="50260" y="1"/>
                </a:lnTo>
                <a:cubicBezTo>
                  <a:pt x="51685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57" y="57860"/>
                  <a:pt x="51685" y="59032"/>
                  <a:pt x="50260" y="59032"/>
                </a:cubicBezTo>
                <a:close/>
              </a:path>
            </a:pathLst>
          </a:custGeom>
          <a:noFill/>
          <a:ln cap="flat" cmpd="sng" w="10300">
            <a:solidFill>
              <a:srgbClr val="222831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8"/>
          <p:cNvSpPr/>
          <p:nvPr/>
        </p:nvSpPr>
        <p:spPr>
          <a:xfrm>
            <a:off x="5364307" y="2975751"/>
            <a:ext cx="1518972" cy="1444365"/>
          </a:xfrm>
          <a:custGeom>
            <a:rect b="b" l="l" r="r" t="t"/>
            <a:pathLst>
              <a:path extrusionOk="0" fill="none" h="59032" w="52889">
                <a:moveTo>
                  <a:pt x="50260" y="59032"/>
                </a:moveTo>
                <a:lnTo>
                  <a:pt x="2629" y="59032"/>
                </a:lnTo>
                <a:cubicBezTo>
                  <a:pt x="1172" y="59032"/>
                  <a:pt x="1" y="57860"/>
                  <a:pt x="1" y="56403"/>
                </a:cubicBezTo>
                <a:lnTo>
                  <a:pt x="1" y="2629"/>
                </a:lnTo>
                <a:cubicBezTo>
                  <a:pt x="1" y="1173"/>
                  <a:pt x="1172" y="1"/>
                  <a:pt x="2629" y="1"/>
                </a:cubicBezTo>
                <a:lnTo>
                  <a:pt x="50260" y="1"/>
                </a:lnTo>
                <a:cubicBezTo>
                  <a:pt x="51716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60" y="59032"/>
                </a:cubicBezTo>
                <a:close/>
              </a:path>
            </a:pathLst>
          </a:custGeom>
          <a:noFill/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8"/>
          <p:cNvSpPr/>
          <p:nvPr/>
        </p:nvSpPr>
        <p:spPr>
          <a:xfrm>
            <a:off x="7314384" y="2975751"/>
            <a:ext cx="1518943" cy="1444365"/>
          </a:xfrm>
          <a:custGeom>
            <a:rect b="b" l="l" r="r" t="t"/>
            <a:pathLst>
              <a:path extrusionOk="0" fill="none" h="59032" w="52888">
                <a:moveTo>
                  <a:pt x="50259" y="59032"/>
                </a:moveTo>
                <a:lnTo>
                  <a:pt x="2629" y="59032"/>
                </a:lnTo>
                <a:cubicBezTo>
                  <a:pt x="1172" y="59032"/>
                  <a:pt x="0" y="57860"/>
                  <a:pt x="0" y="56403"/>
                </a:cubicBezTo>
                <a:lnTo>
                  <a:pt x="0" y="2629"/>
                </a:lnTo>
                <a:cubicBezTo>
                  <a:pt x="0" y="1173"/>
                  <a:pt x="1172" y="1"/>
                  <a:pt x="2629" y="1"/>
                </a:cubicBezTo>
                <a:lnTo>
                  <a:pt x="50259" y="1"/>
                </a:lnTo>
                <a:cubicBezTo>
                  <a:pt x="51684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59" y="59032"/>
                </a:cubicBezTo>
                <a:close/>
              </a:path>
            </a:pathLst>
          </a:custGeom>
          <a:noFill/>
          <a:ln cap="flat" cmpd="sng" w="10300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/>
          <p:nvPr/>
        </p:nvSpPr>
        <p:spPr>
          <a:xfrm>
            <a:off x="5942358" y="2511148"/>
            <a:ext cx="262503" cy="290356"/>
          </a:xfrm>
          <a:custGeom>
            <a:rect b="b" l="l" r="r" t="t"/>
            <a:pathLst>
              <a:path extrusionOk="0" h="11561" w="10452">
                <a:moveTo>
                  <a:pt x="1" y="1"/>
                </a:moveTo>
                <a:lnTo>
                  <a:pt x="5226" y="11560"/>
                </a:lnTo>
                <a:lnTo>
                  <a:pt x="10451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48"/>
          <p:cNvSpPr txBox="1"/>
          <p:nvPr/>
        </p:nvSpPr>
        <p:spPr>
          <a:xfrm>
            <a:off x="1465100" y="2975752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Wordpress/Moodle</a:t>
            </a:r>
            <a:endParaRPr sz="120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43" name="Google Shape;643;p48"/>
          <p:cNvSpPr txBox="1"/>
          <p:nvPr/>
        </p:nvSpPr>
        <p:spPr>
          <a:xfrm>
            <a:off x="1465100" y="3457000"/>
            <a:ext cx="15189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Servidors amb moodle o wordpress instal·lat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4" name="Google Shape;644;p48"/>
          <p:cNvSpPr txBox="1"/>
          <p:nvPr/>
        </p:nvSpPr>
        <p:spPr>
          <a:xfrm>
            <a:off x="3414716" y="2975789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Apt-Mirror</a:t>
            </a:r>
            <a:endParaRPr sz="12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45" name="Google Shape;645;p48"/>
          <p:cNvSpPr/>
          <p:nvPr/>
        </p:nvSpPr>
        <p:spPr>
          <a:xfrm>
            <a:off x="7935434" y="2484235"/>
            <a:ext cx="262478" cy="290356"/>
          </a:xfrm>
          <a:custGeom>
            <a:rect b="b" l="l" r="r" t="t"/>
            <a:pathLst>
              <a:path extrusionOk="0" h="11561" w="10451">
                <a:moveTo>
                  <a:pt x="0" y="1"/>
                </a:moveTo>
                <a:lnTo>
                  <a:pt x="5226" y="11560"/>
                </a:lnTo>
                <a:lnTo>
                  <a:pt x="10451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8"/>
          <p:cNvSpPr txBox="1"/>
          <p:nvPr/>
        </p:nvSpPr>
        <p:spPr>
          <a:xfrm>
            <a:off x="3414850" y="3457049"/>
            <a:ext cx="15189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Servidor de paquets local.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7" name="Google Shape;647;p48"/>
          <p:cNvSpPr/>
          <p:nvPr/>
        </p:nvSpPr>
        <p:spPr>
          <a:xfrm>
            <a:off x="2095303" y="2484235"/>
            <a:ext cx="261698" cy="290355"/>
          </a:xfrm>
          <a:custGeom>
            <a:rect b="b" l="l" r="r" t="t"/>
            <a:pathLst>
              <a:path extrusionOk="0" h="11561" w="10420">
                <a:moveTo>
                  <a:pt x="0" y="1"/>
                </a:moveTo>
                <a:lnTo>
                  <a:pt x="5226" y="11560"/>
                </a:lnTo>
                <a:lnTo>
                  <a:pt x="10419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8"/>
          <p:cNvSpPr txBox="1"/>
          <p:nvPr/>
        </p:nvSpPr>
        <p:spPr>
          <a:xfrm>
            <a:off x="5364544" y="2975789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8A8A8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Monitoratge</a:t>
            </a:r>
            <a:endParaRPr sz="1200">
              <a:solidFill>
                <a:srgbClr val="A8A8A8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49" name="Google Shape;649;p48"/>
          <p:cNvSpPr txBox="1"/>
          <p:nvPr/>
        </p:nvSpPr>
        <p:spPr>
          <a:xfrm>
            <a:off x="5364293" y="3317813"/>
            <a:ext cx="15189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Un servidor Ubuntu amb el programari “Prometheus” instal·lat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0" name="Google Shape;650;p48"/>
          <p:cNvSpPr txBox="1"/>
          <p:nvPr/>
        </p:nvSpPr>
        <p:spPr>
          <a:xfrm>
            <a:off x="7313902" y="2975789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Inventari</a:t>
            </a:r>
            <a:endParaRPr sz="12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51" name="Google Shape;651;p48"/>
          <p:cNvSpPr txBox="1"/>
          <p:nvPr/>
        </p:nvSpPr>
        <p:spPr>
          <a:xfrm>
            <a:off x="7313875" y="3216425"/>
            <a:ext cx="15189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Servidor amb “GLPI” instal·lat amb la funcionalitat d’inventariar dispositius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2" name="Google Shape;652;p48"/>
          <p:cNvSpPr txBox="1"/>
          <p:nvPr/>
        </p:nvSpPr>
        <p:spPr>
          <a:xfrm>
            <a:off x="649175" y="44690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3. Estructura de la xarxa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53" name="Google Shape;653;p48"/>
          <p:cNvSpPr txBox="1"/>
          <p:nvPr/>
        </p:nvSpPr>
        <p:spPr>
          <a:xfrm>
            <a:off x="1607350" y="1020213"/>
            <a:ext cx="47415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Servidors de la xarxa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654" name="Google Shape;65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025" y="2000449"/>
            <a:ext cx="1591050" cy="54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2947" y="1660173"/>
            <a:ext cx="1591050" cy="407861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/>
          <p:nvPr/>
        </p:nvSpPr>
        <p:spPr>
          <a:xfrm>
            <a:off x="4044311" y="2484235"/>
            <a:ext cx="261698" cy="290355"/>
          </a:xfrm>
          <a:custGeom>
            <a:rect b="b" l="l" r="r" t="t"/>
            <a:pathLst>
              <a:path extrusionOk="0" h="11561" w="10420">
                <a:moveTo>
                  <a:pt x="1" y="1"/>
                </a:moveTo>
                <a:lnTo>
                  <a:pt x="5226" y="11560"/>
                </a:lnTo>
                <a:lnTo>
                  <a:pt x="1042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7" name="Google Shape;657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9192" y="1521217"/>
            <a:ext cx="1629954" cy="96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8224" y="1650848"/>
            <a:ext cx="1837600" cy="6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48" title="image-removebg-preview (9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04900" y="1307388"/>
            <a:ext cx="1837600" cy="111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48" title="logo-empresa__3_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69780" y="3004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9"/>
          <p:cNvSpPr txBox="1"/>
          <p:nvPr/>
        </p:nvSpPr>
        <p:spPr>
          <a:xfrm>
            <a:off x="420300" y="1200525"/>
            <a:ext cx="3237600" cy="28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Fira Sans Medium"/>
                <a:ea typeface="Fira Sans Medium"/>
                <a:cs typeface="Fira Sans Medium"/>
                <a:sym typeface="Fira Sans Medium"/>
              </a:rPr>
              <a:t>4. Seguretat aplicada en l’empresa</a:t>
            </a:r>
            <a:endParaRPr sz="3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666" name="Google Shape;66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9025" y="1615625"/>
            <a:ext cx="4422474" cy="231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49" title="logo-empresa__3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0030" y="580105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50"/>
          <p:cNvSpPr txBox="1"/>
          <p:nvPr/>
        </p:nvSpPr>
        <p:spPr>
          <a:xfrm>
            <a:off x="872750" y="246875"/>
            <a:ext cx="5139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Fira Sans Medium"/>
                <a:ea typeface="Fira Sans Medium"/>
                <a:cs typeface="Fira Sans Medium"/>
                <a:sym typeface="Fira Sans Medium"/>
              </a:rPr>
              <a:t>4. Seguretat aplicada en la empresa</a:t>
            </a:r>
            <a:endParaRPr sz="2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descr="password icon. Filled password icon for website design and mobile, app development. password icon from filled email collection isolated on black background. (proporcionado por Getty Images)" id="673" name="Google Shape;67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2025" y="1674925"/>
            <a:ext cx="3220649" cy="32206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sword phone icon vector outline illustration (proporcionado por Getty Images)" id="674" name="Google Shape;674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3475" y="1613025"/>
            <a:ext cx="3282550" cy="328255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0"/>
          <p:cNvSpPr txBox="1"/>
          <p:nvPr/>
        </p:nvSpPr>
        <p:spPr>
          <a:xfrm>
            <a:off x="1212700" y="836750"/>
            <a:ext cx="36993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Polítiques de contrasenyes</a:t>
            </a:r>
            <a:endParaRPr sz="10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676" name="Google Shape;676;p50" title="logo-empresa__3_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69780" y="3004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51"/>
          <p:cNvSpPr txBox="1"/>
          <p:nvPr/>
        </p:nvSpPr>
        <p:spPr>
          <a:xfrm>
            <a:off x="786125" y="232300"/>
            <a:ext cx="5139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Fira Sans Medium"/>
                <a:ea typeface="Fira Sans Medium"/>
                <a:cs typeface="Fira Sans Medium"/>
                <a:sym typeface="Fira Sans Medium"/>
              </a:rPr>
              <a:t>4. Seguretat aplicada en la empresa</a:t>
            </a:r>
            <a:endParaRPr sz="2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82" name="Google Shape;682;p51"/>
          <p:cNvSpPr txBox="1"/>
          <p:nvPr/>
        </p:nvSpPr>
        <p:spPr>
          <a:xfrm>
            <a:off x="1035500" y="734475"/>
            <a:ext cx="36993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Política de backups</a:t>
            </a:r>
            <a:endParaRPr sz="10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683" name="Google Shape;68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351" y="1445575"/>
            <a:ext cx="3626800" cy="290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4475" y="1243875"/>
            <a:ext cx="1853100" cy="3042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51" title="logo-empresa__3_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69780" y="3004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2"/>
          <p:cNvSpPr txBox="1"/>
          <p:nvPr/>
        </p:nvSpPr>
        <p:spPr>
          <a:xfrm>
            <a:off x="778850" y="232250"/>
            <a:ext cx="5139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Fira Sans Medium"/>
                <a:ea typeface="Fira Sans Medium"/>
                <a:cs typeface="Fira Sans Medium"/>
                <a:sym typeface="Fira Sans Medium"/>
              </a:rPr>
              <a:t>4. Seguretat aplicada en la empresa</a:t>
            </a:r>
            <a:endParaRPr sz="2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91" name="Google Shape;691;p52"/>
          <p:cNvSpPr txBox="1"/>
          <p:nvPr/>
        </p:nvSpPr>
        <p:spPr>
          <a:xfrm>
            <a:off x="1262025" y="767825"/>
            <a:ext cx="36993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Servidor Intermediari (Proxy)</a:t>
            </a:r>
            <a:endParaRPr sz="10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692" name="Google Shape;69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950" y="1962375"/>
            <a:ext cx="4794349" cy="202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0050" y="1962376"/>
            <a:ext cx="2791325" cy="279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52" title="logo-empresa__3_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69780" y="3004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3"/>
          <p:cNvSpPr txBox="1"/>
          <p:nvPr/>
        </p:nvSpPr>
        <p:spPr>
          <a:xfrm>
            <a:off x="785100" y="1402225"/>
            <a:ext cx="3237600" cy="28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Fira Sans Medium"/>
                <a:ea typeface="Fira Sans Medium"/>
                <a:cs typeface="Fira Sans Medium"/>
                <a:sym typeface="Fira Sans Medium"/>
              </a:rPr>
              <a:t>5. Distribució de les pàgines web</a:t>
            </a:r>
            <a:endParaRPr sz="3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700" name="Google Shape;70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300" y="3069550"/>
            <a:ext cx="4883850" cy="166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53" title="logo-empresa__3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2055" y="682605"/>
            <a:ext cx="525936" cy="52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53" title="image-removebg-preview (5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3750" y="1430075"/>
            <a:ext cx="4074555" cy="2119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54"/>
          <p:cNvSpPr txBox="1"/>
          <p:nvPr/>
        </p:nvSpPr>
        <p:spPr>
          <a:xfrm>
            <a:off x="274725" y="341875"/>
            <a:ext cx="5139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Fira Sans Medium"/>
                <a:ea typeface="Fira Sans Medium"/>
                <a:cs typeface="Fira Sans Medium"/>
                <a:sym typeface="Fira Sans Medium"/>
              </a:rPr>
              <a:t>5. Distribució de les pàgines web</a:t>
            </a:r>
            <a:endParaRPr sz="2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08" name="Google Shape;708;p54"/>
          <p:cNvSpPr txBox="1"/>
          <p:nvPr/>
        </p:nvSpPr>
        <p:spPr>
          <a:xfrm>
            <a:off x="524100" y="844050"/>
            <a:ext cx="36993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Moodle</a:t>
            </a:r>
            <a:endParaRPr sz="10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709" name="Google Shape;70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7250" y="1505850"/>
            <a:ext cx="5817175" cy="2916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0585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54" title="logo-empresa__3_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74055" y="422305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55"/>
          <p:cNvSpPr txBox="1"/>
          <p:nvPr/>
        </p:nvSpPr>
        <p:spPr>
          <a:xfrm>
            <a:off x="274725" y="341875"/>
            <a:ext cx="5139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Fira Sans Medium"/>
                <a:ea typeface="Fira Sans Medium"/>
                <a:cs typeface="Fira Sans Medium"/>
                <a:sym typeface="Fira Sans Medium"/>
              </a:rPr>
              <a:t>5. Distribució de les pàgines web</a:t>
            </a:r>
            <a:endParaRPr sz="2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17" name="Google Shape;717;p55"/>
          <p:cNvSpPr txBox="1"/>
          <p:nvPr/>
        </p:nvSpPr>
        <p:spPr>
          <a:xfrm>
            <a:off x="524100" y="844050"/>
            <a:ext cx="36993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Wordpress</a:t>
            </a:r>
            <a:endParaRPr sz="10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718" name="Google Shape;71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5750" y="1353450"/>
            <a:ext cx="5403400" cy="270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55" title="logo-empresa__3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4955" y="433380"/>
            <a:ext cx="525936" cy="52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55" title="image-removebg-preview (6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725" y="1302250"/>
            <a:ext cx="3400950" cy="2811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56"/>
          <p:cNvSpPr txBox="1"/>
          <p:nvPr/>
        </p:nvSpPr>
        <p:spPr>
          <a:xfrm>
            <a:off x="140250" y="1828650"/>
            <a:ext cx="3861900" cy="14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Fira Sans Medium"/>
                <a:ea typeface="Fira Sans Medium"/>
                <a:cs typeface="Fira Sans Medium"/>
                <a:sym typeface="Fira Sans Medium"/>
              </a:rPr>
              <a:t>6. </a:t>
            </a:r>
            <a:r>
              <a:rPr lang="en" sz="3500">
                <a:latin typeface="Fira Sans Medium"/>
                <a:ea typeface="Fira Sans Medium"/>
                <a:cs typeface="Fira Sans Medium"/>
                <a:sym typeface="Fira Sans Medium"/>
              </a:rPr>
              <a:t>Monitoratge i manteniment dels servidors</a:t>
            </a:r>
            <a:endParaRPr sz="3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726" name="Google Shape;72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9263" y="1433175"/>
            <a:ext cx="4742770" cy="266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56" title="logo-empresa__3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1955" y="3613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7"/>
          <p:cNvSpPr txBox="1"/>
          <p:nvPr/>
        </p:nvSpPr>
        <p:spPr>
          <a:xfrm>
            <a:off x="274725" y="341875"/>
            <a:ext cx="730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6. Monitoratge i manteniment servidors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33" name="Google Shape;733;p57"/>
          <p:cNvSpPr txBox="1"/>
          <p:nvPr/>
        </p:nvSpPr>
        <p:spPr>
          <a:xfrm>
            <a:off x="672175" y="865525"/>
            <a:ext cx="21129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Prometheus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734" name="Google Shape;734;p57" title="image-removebg-preview (1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775" y="1415750"/>
            <a:ext cx="5110350" cy="249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57" title="logo-empresa__3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0380" y="23403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8"/>
          <p:cNvSpPr txBox="1"/>
          <p:nvPr/>
        </p:nvSpPr>
        <p:spPr>
          <a:xfrm>
            <a:off x="0" y="3101775"/>
            <a:ext cx="22320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Prometheus Redundància</a:t>
            </a:r>
            <a:endParaRPr sz="13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IP: 192.168.1.22/24</a:t>
            </a:r>
            <a:endParaRPr sz="13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741" name="Google Shape;741;p58"/>
          <p:cNvSpPr txBox="1"/>
          <p:nvPr/>
        </p:nvSpPr>
        <p:spPr>
          <a:xfrm>
            <a:off x="2308875" y="3020175"/>
            <a:ext cx="2232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Prometheus LAN</a:t>
            </a:r>
            <a:endParaRPr sz="13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IP: 192.168.1.21/24</a:t>
            </a:r>
            <a:endParaRPr sz="13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742" name="Google Shape;742;p58" title="image-removebg-preview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4050" y="1749569"/>
            <a:ext cx="1732400" cy="14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58"/>
          <p:cNvSpPr txBox="1"/>
          <p:nvPr/>
        </p:nvSpPr>
        <p:spPr>
          <a:xfrm>
            <a:off x="5619200" y="3182788"/>
            <a:ext cx="2232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DMZ</a:t>
            </a:r>
            <a:endParaRPr sz="13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744" name="Google Shape;744;p58" title="image-removebg-preview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5">
            <a:off x="1656400" y="2354421"/>
            <a:ext cx="1092674" cy="626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58" title="image-removebg-preview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5">
            <a:off x="4055225" y="2354421"/>
            <a:ext cx="1092674" cy="626757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58"/>
          <p:cNvSpPr txBox="1"/>
          <p:nvPr/>
        </p:nvSpPr>
        <p:spPr>
          <a:xfrm>
            <a:off x="198700" y="598500"/>
            <a:ext cx="730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6. Monitoratge i manteniment servidors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747" name="Google Shape;747;p58" title="image-removebg-preview (8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9213" y="1975734"/>
            <a:ext cx="987875" cy="980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0799" y="2001577"/>
            <a:ext cx="987849" cy="979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11974" y="2040577"/>
            <a:ext cx="987849" cy="979602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58"/>
          <p:cNvSpPr txBox="1"/>
          <p:nvPr/>
        </p:nvSpPr>
        <p:spPr>
          <a:xfrm>
            <a:off x="661100" y="1079700"/>
            <a:ext cx="21129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Prometheus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751" name="Google Shape;751;p58" title="logo-empresa__3_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69780" y="3004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9"/>
          <p:cNvSpPr txBox="1"/>
          <p:nvPr/>
        </p:nvSpPr>
        <p:spPr>
          <a:xfrm>
            <a:off x="274725" y="341875"/>
            <a:ext cx="730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6. Monitoratge i manteniment servidors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57" name="Google Shape;757;p59"/>
          <p:cNvSpPr txBox="1"/>
          <p:nvPr/>
        </p:nvSpPr>
        <p:spPr>
          <a:xfrm>
            <a:off x="672175" y="865525"/>
            <a:ext cx="21129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Inventari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758" name="Google Shape;758;p59" title="image-removebg-preview (1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847" y="1316875"/>
            <a:ext cx="4490300" cy="272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59" title="logo-empresa__3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9780" y="3004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0"/>
          <p:cNvSpPr txBox="1"/>
          <p:nvPr/>
        </p:nvSpPr>
        <p:spPr>
          <a:xfrm>
            <a:off x="274725" y="341875"/>
            <a:ext cx="730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6. Monitoratge i manteniment servidors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65" name="Google Shape;765;p60"/>
          <p:cNvSpPr txBox="1"/>
          <p:nvPr/>
        </p:nvSpPr>
        <p:spPr>
          <a:xfrm>
            <a:off x="672175" y="865525"/>
            <a:ext cx="21129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Viga"/>
                <a:ea typeface="Viga"/>
                <a:cs typeface="Viga"/>
                <a:sym typeface="Viga"/>
              </a:rPr>
              <a:t>Inventari</a:t>
            </a:r>
            <a:endParaRPr b="1" sz="1800">
              <a:solidFill>
                <a:srgbClr val="595959"/>
              </a:solidFill>
              <a:latin typeface="Viga"/>
              <a:ea typeface="Viga"/>
              <a:cs typeface="Viga"/>
              <a:sym typeface="Viga"/>
            </a:endParaRPr>
          </a:p>
        </p:txBody>
      </p:sp>
      <p:pic>
        <p:nvPicPr>
          <p:cNvPr id="766" name="Google Shape;76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7175" y="1401775"/>
            <a:ext cx="5810148" cy="294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60" title="logo-empresa__3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9780" y="300480"/>
            <a:ext cx="525936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1"/>
          <p:cNvSpPr txBox="1"/>
          <p:nvPr/>
        </p:nvSpPr>
        <p:spPr>
          <a:xfrm>
            <a:off x="374225" y="1828650"/>
            <a:ext cx="3861900" cy="14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Fira Sans Medium"/>
                <a:ea typeface="Fira Sans Medium"/>
                <a:cs typeface="Fira Sans Medium"/>
                <a:sym typeface="Fira Sans Medium"/>
              </a:rPr>
              <a:t>7</a:t>
            </a:r>
            <a:r>
              <a:rPr lang="en" sz="3500">
                <a:latin typeface="Fira Sans Medium"/>
                <a:ea typeface="Fira Sans Medium"/>
                <a:cs typeface="Fira Sans Medium"/>
                <a:sym typeface="Fira Sans Medium"/>
              </a:rPr>
              <a:t>. Conclusió</a:t>
            </a:r>
            <a:endParaRPr sz="3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773" name="Google Shape;773;p61" title="logo-empresa__3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1955" y="361380"/>
            <a:ext cx="525936" cy="52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61" title="image-removebg-preview (7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5700" y="1277300"/>
            <a:ext cx="4873825" cy="29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2"/>
          <p:cNvSpPr txBox="1"/>
          <p:nvPr>
            <p:ph type="title"/>
          </p:nvPr>
        </p:nvSpPr>
        <p:spPr>
          <a:xfrm>
            <a:off x="720000" y="229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Pressupost</a:t>
            </a:r>
            <a:endParaRPr/>
          </a:p>
        </p:txBody>
      </p:sp>
      <p:graphicFrame>
        <p:nvGraphicFramePr>
          <p:cNvPr id="780" name="Google Shape;780;p62"/>
          <p:cNvGraphicFramePr/>
          <p:nvPr/>
        </p:nvGraphicFramePr>
        <p:xfrm>
          <a:off x="1399550" y="85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{C6AFB1CC-317A-4388-A43D-31EC362F92A6}</a:tableStyleId>
              </a:tblPr>
              <a:tblGrid>
                <a:gridCol w="1586225"/>
                <a:gridCol w="1586225"/>
                <a:gridCol w="1586225"/>
                <a:gridCol w="1586225"/>
              </a:tblGrid>
              <a:tr h="17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Nombre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46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Cantidad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46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Precio Unidad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46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Precio total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463C"/>
                    </a:solidFill>
                  </a:tcPr>
                </a:tc>
              </a:tr>
              <a:tr h="17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Mikrotik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Raspberry Pi 4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55,00 €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55,00 €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303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Llicència Windows Server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120,00 €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240,00 €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Switch 24 ports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87,00 €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174,00 €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17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Dell PowerEdge T150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1.154,00 €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9.232,00 €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Rack 12U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567,56 €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567,56 €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17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Cablejat RJ45 20m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26,00 €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26,00 €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Cablejat RJ45 15m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17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14,00 €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238,00 €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17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CPD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3.000,00 €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3.000,00 €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Punt d'accès wifi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100,00 €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300,00 €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303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Llicència Windows 11 Pro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50,00 €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500,00 €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303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PREU COMPONENTS:</a:t>
                      </a:r>
                      <a:endParaRPr b="1" sz="1000" u="sng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14.354,56 €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PREU MA D'OBRA:</a:t>
                      </a:r>
                      <a:endParaRPr b="1" sz="1000" u="sng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297 hores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35,00 €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10.395,00 €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PREU FINAL:</a:t>
                      </a:r>
                      <a:endParaRPr b="1" sz="1000" u="sng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24.749,56 €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3"/>
          <p:cNvSpPr txBox="1"/>
          <p:nvPr>
            <p:ph type="title"/>
          </p:nvPr>
        </p:nvSpPr>
        <p:spPr>
          <a:xfrm>
            <a:off x="718824" y="1702150"/>
            <a:ext cx="7952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</a:t>
            </a:r>
            <a:r>
              <a:rPr lang="en"/>
              <a:t>àcies per la vostra atenció</a:t>
            </a:r>
            <a:r>
              <a:rPr lang="en"/>
              <a:t>!</a:t>
            </a:r>
            <a:endParaRPr/>
          </a:p>
        </p:txBody>
      </p:sp>
      <p:pic>
        <p:nvPicPr>
          <p:cNvPr id="786" name="Google Shape;78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100" y="3046700"/>
            <a:ext cx="406717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